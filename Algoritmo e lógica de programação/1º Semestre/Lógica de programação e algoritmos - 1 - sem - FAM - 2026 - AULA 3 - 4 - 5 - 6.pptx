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8" r:id="rId6"/>
    <p:sldId id="300" r:id="rId7"/>
    <p:sldId id="301" r:id="rId8"/>
    <p:sldId id="302" r:id="rId9"/>
    <p:sldId id="303" r:id="rId10"/>
    <p:sldId id="304" r:id="rId11"/>
    <p:sldId id="308" r:id="rId12"/>
    <p:sldId id="307" r:id="rId13"/>
    <p:sldId id="309" r:id="rId14"/>
    <p:sldId id="306" r:id="rId15"/>
    <p:sldId id="310" r:id="rId16"/>
    <p:sldId id="312" r:id="rId17"/>
    <p:sldId id="311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4" r:id="rId29"/>
    <p:sldId id="325" r:id="rId30"/>
    <p:sldId id="326" r:id="rId31"/>
    <p:sldId id="327" r:id="rId32"/>
    <p:sldId id="323" r:id="rId33"/>
    <p:sldId id="328" r:id="rId34"/>
    <p:sldId id="329" r:id="rId35"/>
    <p:sldId id="330" r:id="rId36"/>
    <p:sldId id="331" r:id="rId37"/>
    <p:sldId id="332" r:id="rId38"/>
    <p:sldId id="28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7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AB9A-9AB6-8546-4796-1F22DD28A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953" y="3526700"/>
            <a:ext cx="9913957" cy="1169016"/>
          </a:xfrm>
        </p:spPr>
        <p:txBody>
          <a:bodyPr anchor="ctr" anchorCtr="0"/>
          <a:lstStyle/>
          <a:p>
            <a:pPr algn="ctr"/>
            <a:r>
              <a:rPr lang="pt-BR" dirty="0"/>
              <a:t>Prof. Ballak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0C97AD-6261-E210-F8B0-C2A574A8A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1952" y="4695716"/>
            <a:ext cx="9913958" cy="756604"/>
          </a:xfrm>
        </p:spPr>
        <p:txBody>
          <a:bodyPr anchor="ctr" anchorCtr="0">
            <a:normAutofit fontScale="85000" lnSpcReduction="20000"/>
          </a:bodyPr>
          <a:lstStyle/>
          <a:p>
            <a:pPr algn="ctr"/>
            <a:r>
              <a:rPr lang="pt-BR" dirty="0"/>
              <a:t>MATÉRIAS 3, 4, 5 e 6</a:t>
            </a:r>
          </a:p>
          <a:p>
            <a:pPr algn="ctr"/>
            <a:r>
              <a:rPr lang="pt-BR" dirty="0"/>
              <a:t>SEMESTRE 1 / 2026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2616294-E77E-5127-797A-B70BB6490399}"/>
              </a:ext>
            </a:extLst>
          </p:cNvPr>
          <p:cNvSpPr txBox="1">
            <a:spLocks/>
          </p:cNvSpPr>
          <p:nvPr/>
        </p:nvSpPr>
        <p:spPr>
          <a:xfrm>
            <a:off x="1666649" y="1554453"/>
            <a:ext cx="10064565" cy="1054249"/>
          </a:xfrm>
          <a:prstGeom prst="rect">
            <a:avLst/>
          </a:prstGeom>
        </p:spPr>
        <p:txBody>
          <a:bodyPr vert="horz" lIns="91440" tIns="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pt-BR" sz="6600" dirty="0"/>
              <a:t>Algoritmos e Lógica</a:t>
            </a:r>
          </a:p>
          <a:p>
            <a:pPr algn="ctr">
              <a:lnSpc>
                <a:spcPct val="100000"/>
              </a:lnSpc>
            </a:pPr>
            <a:r>
              <a:rPr lang="pt-BR" sz="6600" dirty="0"/>
              <a:t>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288778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B7D9-287A-EEF8-E5FC-FAC1318C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AE96D-3DF3-0280-D117-C792AE17B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1BB9EB-A4E3-D40D-F199-0EE02A086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/>
          </a:bodyPr>
          <a:lstStyle/>
          <a:p>
            <a:pPr algn="ctr"/>
            <a:r>
              <a:rPr lang="pt-BR" sz="5400" b="1" dirty="0"/>
              <a:t>PARTE 1</a:t>
            </a:r>
          </a:p>
          <a:p>
            <a:pPr algn="ctr"/>
            <a:r>
              <a:rPr lang="pt-BR" sz="5400" b="1" dirty="0"/>
              <a:t>introdução à lógica e princípios da resolução de problemas</a:t>
            </a:r>
          </a:p>
        </p:txBody>
      </p:sp>
    </p:spTree>
    <p:extLst>
      <p:ext uri="{BB962C8B-B14F-4D97-AF65-F5344CB8AC3E}">
        <p14:creationId xmlns:p14="http://schemas.microsoft.com/office/powerpoint/2010/main" val="3379657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7521-5CE4-15C7-C1C6-A8B8FE77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4DD09-A347-BD95-2C19-EA19F92ED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1C0415-2203-C727-8910-F6DEFC03B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 lnSpcReduction="10000"/>
          </a:bodyPr>
          <a:lstStyle/>
          <a:p>
            <a:pPr algn="ctr"/>
            <a:r>
              <a:rPr lang="pt-BR" sz="3000" b="1" dirty="0"/>
              <a:t>um pouco de história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A lógica estuda as formas do pensamento. Historicamente, evoluímos da lógica aristotélica (dedução e silogismos) para a lógica booleana (George </a:t>
            </a:r>
            <a:r>
              <a:rPr lang="pt-BR" sz="3000" b="1" dirty="0" err="1">
                <a:solidFill>
                  <a:schemeClr val="tx1"/>
                </a:solidFill>
              </a:rPr>
              <a:t>Boole</a:t>
            </a:r>
            <a:r>
              <a:rPr lang="pt-BR" sz="3000" b="1" dirty="0">
                <a:solidFill>
                  <a:schemeClr val="tx1"/>
                </a:solidFill>
              </a:rPr>
              <a:t>, 1847), que reduziu o pensamento a 0 e 1. Na resolução de problemas, o marco acadêmico é George </a:t>
            </a:r>
            <a:r>
              <a:rPr lang="pt-BR" sz="3000" b="1" dirty="0" err="1">
                <a:solidFill>
                  <a:schemeClr val="tx1"/>
                </a:solidFill>
              </a:rPr>
              <a:t>Polya</a:t>
            </a:r>
            <a:r>
              <a:rPr lang="pt-BR" sz="3000" b="1" dirty="0">
                <a:solidFill>
                  <a:schemeClr val="tx1"/>
                </a:solidFill>
              </a:rPr>
              <a:t> (1945), que em sua obra "</a:t>
            </a:r>
            <a:r>
              <a:rPr lang="pt-BR" sz="3000" b="1" dirty="0" err="1">
                <a:solidFill>
                  <a:schemeClr val="tx1"/>
                </a:solidFill>
              </a:rPr>
              <a:t>How</a:t>
            </a:r>
            <a:r>
              <a:rPr lang="pt-BR" sz="3000" b="1" dirty="0">
                <a:solidFill>
                  <a:schemeClr val="tx1"/>
                </a:solidFill>
              </a:rPr>
              <a:t> </a:t>
            </a:r>
            <a:r>
              <a:rPr lang="pt-BR" sz="3000" b="1" dirty="0" err="1">
                <a:solidFill>
                  <a:schemeClr val="tx1"/>
                </a:solidFill>
              </a:rPr>
              <a:t>to</a:t>
            </a:r>
            <a:r>
              <a:rPr lang="pt-BR" sz="3000" b="1" dirty="0">
                <a:solidFill>
                  <a:schemeClr val="tx1"/>
                </a:solidFill>
              </a:rPr>
              <a:t> Solve It" definiu que resolver problemas não é um dom, mas um método.</a:t>
            </a:r>
          </a:p>
        </p:txBody>
      </p:sp>
    </p:spTree>
    <p:extLst>
      <p:ext uri="{BB962C8B-B14F-4D97-AF65-F5344CB8AC3E}">
        <p14:creationId xmlns:p14="http://schemas.microsoft.com/office/powerpoint/2010/main" val="320214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C142B-2B8E-C577-27AE-085FB3E45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64110-C8A4-BD1B-B45A-47955B83F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FA7C48-3E35-B7EB-88CB-5BB94FC0E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 fontScale="62500" lnSpcReduction="20000"/>
          </a:bodyPr>
          <a:lstStyle/>
          <a:p>
            <a:pPr algn="ctr"/>
            <a:r>
              <a:rPr lang="pt-BR" sz="3000" b="1" dirty="0"/>
              <a:t>o que é?</a:t>
            </a:r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Esta matéria serve para construir a "musculatura mental". No contexto acadêmico, é a base para inteligência artificial (onde a lógica decide ações) e sistemas especialistas. O aluno que domina isso pode seguir para arquitetura de software ou engenharia de dados.</a:t>
            </a:r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  <a:p>
            <a:pPr algn="ctr"/>
            <a:r>
              <a:rPr lang="pt-BR" sz="3000" b="1" dirty="0"/>
              <a:t> estrutura lógica: os 4 passos de </a:t>
            </a:r>
            <a:r>
              <a:rPr lang="pt-BR" sz="3000" b="1" dirty="0" err="1"/>
              <a:t>polya</a:t>
            </a:r>
            <a:endParaRPr lang="pt-BR" sz="3000" b="1" dirty="0"/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  <a:p>
            <a:r>
              <a:rPr lang="pt-BR" sz="3000" b="1" dirty="0">
                <a:solidFill>
                  <a:schemeClr val="tx1"/>
                </a:solidFill>
              </a:rPr>
              <a:t>1. compreender o problema: quais são as entradas? qual é a saída desejada?</a:t>
            </a:r>
          </a:p>
          <a:p>
            <a:r>
              <a:rPr lang="pt-BR" sz="3000" b="1" dirty="0">
                <a:solidFill>
                  <a:schemeClr val="tx1"/>
                </a:solidFill>
              </a:rPr>
              <a:t>2. construir um plano: como as entradas se conectam às saídas? (aqui entra a lógica).</a:t>
            </a:r>
          </a:p>
          <a:p>
            <a:r>
              <a:rPr lang="pt-BR" sz="3000" b="1" dirty="0">
                <a:solidFill>
                  <a:schemeClr val="tx1"/>
                </a:solidFill>
              </a:rPr>
              <a:t>3. executar o plano: transformar a estratégia em passos.</a:t>
            </a:r>
          </a:p>
          <a:p>
            <a:r>
              <a:rPr lang="pt-BR" sz="3000" b="1" dirty="0">
                <a:solidFill>
                  <a:schemeClr val="tx1"/>
                </a:solidFill>
              </a:rPr>
              <a:t>4. revisar (look </a:t>
            </a:r>
            <a:r>
              <a:rPr lang="pt-BR" sz="3000" b="1" dirty="0" err="1">
                <a:solidFill>
                  <a:schemeClr val="tx1"/>
                </a:solidFill>
              </a:rPr>
              <a:t>back</a:t>
            </a:r>
            <a:r>
              <a:rPr lang="pt-BR" sz="3000" b="1" dirty="0">
                <a:solidFill>
                  <a:schemeClr val="tx1"/>
                </a:solidFill>
              </a:rPr>
              <a:t>): existe uma forma mais eficiente?</a:t>
            </a:r>
          </a:p>
        </p:txBody>
      </p:sp>
    </p:spTree>
    <p:extLst>
      <p:ext uri="{BB962C8B-B14F-4D97-AF65-F5344CB8AC3E}">
        <p14:creationId xmlns:p14="http://schemas.microsoft.com/office/powerpoint/2010/main" val="37089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530E8-9B44-F6A6-8C8C-8065D6C5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36CA1-DFA6-45A5-D215-97CD09020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AB8354-1A6B-14D9-A32D-DC7DA7600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 fontScale="92500" lnSpcReduction="10000"/>
          </a:bodyPr>
          <a:lstStyle/>
          <a:p>
            <a:pPr algn="ctr"/>
            <a:r>
              <a:rPr lang="pt-BR" sz="3000" b="1" dirty="0"/>
              <a:t>casos de uso</a:t>
            </a:r>
          </a:p>
          <a:p>
            <a:pPr algn="ctr"/>
            <a:endParaRPr lang="pt-BR" sz="3000" b="1" dirty="0"/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dia a dia: diagnosticar por que um carro não liga (bateria? combustível? ignição?).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 aplicação técnica: sistemas de suporte à decisão médica, onde sintomas são processados via regras lógicas para sugerir diagnósticos.</a:t>
            </a:r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base de estudo: o aluno deve estudar tabelas-verdade e conectivos lógicos (`</a:t>
            </a:r>
            <a:r>
              <a:rPr lang="pt-BR" sz="3000" b="1" dirty="0" err="1">
                <a:solidFill>
                  <a:schemeClr val="tx1"/>
                </a:solidFill>
              </a:rPr>
              <a:t>and</a:t>
            </a:r>
            <a:r>
              <a:rPr lang="pt-BR" sz="3000" b="1" dirty="0">
                <a:solidFill>
                  <a:schemeClr val="tx1"/>
                </a:solidFill>
              </a:rPr>
              <a:t>`, `</a:t>
            </a:r>
            <a:r>
              <a:rPr lang="pt-BR" sz="3000" b="1" dirty="0" err="1">
                <a:solidFill>
                  <a:schemeClr val="tx1"/>
                </a:solidFill>
              </a:rPr>
              <a:t>or</a:t>
            </a:r>
            <a:r>
              <a:rPr lang="pt-BR" sz="3000" b="1" dirty="0">
                <a:solidFill>
                  <a:schemeClr val="tx1"/>
                </a:solidFill>
              </a:rPr>
              <a:t>`, `</a:t>
            </a:r>
            <a:r>
              <a:rPr lang="pt-BR" sz="3000" b="1" dirty="0" err="1">
                <a:solidFill>
                  <a:schemeClr val="tx1"/>
                </a:solidFill>
              </a:rPr>
              <a:t>not</a:t>
            </a:r>
            <a:r>
              <a:rPr lang="pt-BR" sz="3000" b="1" dirty="0">
                <a:solidFill>
                  <a:schemeClr val="tx1"/>
                </a:solidFill>
              </a:rPr>
              <a:t>`).</a:t>
            </a:r>
          </a:p>
        </p:txBody>
      </p:sp>
    </p:spTree>
    <p:extLst>
      <p:ext uri="{BB962C8B-B14F-4D97-AF65-F5344CB8AC3E}">
        <p14:creationId xmlns:p14="http://schemas.microsoft.com/office/powerpoint/2010/main" val="22158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0059-C937-F970-C848-97E033C63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D41D7-610A-A9FD-B5DD-73FE2C0AB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CC1506-E35E-73D7-F2D2-32B04A239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 fontScale="92500" lnSpcReduction="10000"/>
          </a:bodyPr>
          <a:lstStyle/>
          <a:p>
            <a:pPr algn="ctr"/>
            <a:r>
              <a:rPr lang="pt-BR" sz="3000" b="1" dirty="0"/>
              <a:t>casos de uso</a:t>
            </a:r>
          </a:p>
          <a:p>
            <a:pPr algn="ctr"/>
            <a:endParaRPr lang="pt-BR" sz="3000" b="1" dirty="0"/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dia a dia: diagnosticar por que um carro não liga (bateria? combustível? ignição?).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 aplicação técnica: sistemas de suporte à decisão médica, onde sintomas são processados via regras lógicas para sugerir diagnósticos.</a:t>
            </a:r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base de estudo: o aluno deve estudar tabelas-verdade e conectivos lógicos (`</a:t>
            </a:r>
            <a:r>
              <a:rPr lang="pt-BR" sz="3000" b="1" dirty="0" err="1">
                <a:solidFill>
                  <a:schemeClr val="tx1"/>
                </a:solidFill>
              </a:rPr>
              <a:t>and</a:t>
            </a:r>
            <a:r>
              <a:rPr lang="pt-BR" sz="3000" b="1" dirty="0">
                <a:solidFill>
                  <a:schemeClr val="tx1"/>
                </a:solidFill>
              </a:rPr>
              <a:t>`, `</a:t>
            </a:r>
            <a:r>
              <a:rPr lang="pt-BR" sz="3000" b="1" dirty="0" err="1">
                <a:solidFill>
                  <a:schemeClr val="tx1"/>
                </a:solidFill>
              </a:rPr>
              <a:t>or</a:t>
            </a:r>
            <a:r>
              <a:rPr lang="pt-BR" sz="3000" b="1" dirty="0">
                <a:solidFill>
                  <a:schemeClr val="tx1"/>
                </a:solidFill>
              </a:rPr>
              <a:t>`, `</a:t>
            </a:r>
            <a:r>
              <a:rPr lang="pt-BR" sz="3000" b="1" dirty="0" err="1">
                <a:solidFill>
                  <a:schemeClr val="tx1"/>
                </a:solidFill>
              </a:rPr>
              <a:t>not</a:t>
            </a:r>
            <a:r>
              <a:rPr lang="pt-BR" sz="3000" b="1" dirty="0">
                <a:solidFill>
                  <a:schemeClr val="tx1"/>
                </a:solidFill>
              </a:rPr>
              <a:t>`).</a:t>
            </a:r>
          </a:p>
        </p:txBody>
      </p:sp>
    </p:spTree>
    <p:extLst>
      <p:ext uri="{BB962C8B-B14F-4D97-AF65-F5344CB8AC3E}">
        <p14:creationId xmlns:p14="http://schemas.microsoft.com/office/powerpoint/2010/main" val="3717245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E32A1-9420-EC8E-D77F-4CC4A4B3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E27703-E534-39A4-A6C0-6AFFECE53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CE4E53-3317-CDCD-5FD5-2C23F611F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/>
          </a:bodyPr>
          <a:lstStyle/>
          <a:p>
            <a:pPr algn="ctr"/>
            <a:r>
              <a:rPr lang="pt-BR" sz="3200" b="1" dirty="0"/>
              <a:t>OS CONECTIVOS – LÓGICA NA PRÁTICA</a:t>
            </a:r>
          </a:p>
          <a:p>
            <a:pPr algn="ctr"/>
            <a:r>
              <a:rPr lang="pt-BR" sz="3200" b="1" dirty="0">
                <a:solidFill>
                  <a:schemeClr val="tx1"/>
                </a:solidFill>
              </a:rPr>
              <a:t>Para aprender lógica de programação, o domínio dos conectivos lógicos é o divisor de águas entre quem apenas "digita código" e quem realmente "constrói soluções". Esses conectivos são baseados na álgebra booleana e servem para unir proposições, resultando em um valor verdadeiro ou falso.</a:t>
            </a:r>
            <a:endParaRPr lang="pt-BR" sz="3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859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B55C1-6244-322C-685A-2BF61915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8AD6C-24EB-88F4-1611-188DBF54F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B4FC7E2-3B40-0623-2D81-3CB1C0FB1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185881"/>
              </p:ext>
            </p:extLst>
          </p:nvPr>
        </p:nvGraphicFramePr>
        <p:xfrm>
          <a:off x="1865670" y="1245572"/>
          <a:ext cx="9634260" cy="495083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926852">
                  <a:extLst>
                    <a:ext uri="{9D8B030D-6E8A-4147-A177-3AD203B41FA5}">
                      <a16:colId xmlns:a16="http://schemas.microsoft.com/office/drawing/2014/main" val="2071332973"/>
                    </a:ext>
                  </a:extLst>
                </a:gridCol>
                <a:gridCol w="1926852">
                  <a:extLst>
                    <a:ext uri="{9D8B030D-6E8A-4147-A177-3AD203B41FA5}">
                      <a16:colId xmlns:a16="http://schemas.microsoft.com/office/drawing/2014/main" val="1819390627"/>
                    </a:ext>
                  </a:extLst>
                </a:gridCol>
                <a:gridCol w="1926852">
                  <a:extLst>
                    <a:ext uri="{9D8B030D-6E8A-4147-A177-3AD203B41FA5}">
                      <a16:colId xmlns:a16="http://schemas.microsoft.com/office/drawing/2014/main" val="3829278344"/>
                    </a:ext>
                  </a:extLst>
                </a:gridCol>
                <a:gridCol w="1926852">
                  <a:extLst>
                    <a:ext uri="{9D8B030D-6E8A-4147-A177-3AD203B41FA5}">
                      <a16:colId xmlns:a16="http://schemas.microsoft.com/office/drawing/2014/main" val="945656496"/>
                    </a:ext>
                  </a:extLst>
                </a:gridCol>
                <a:gridCol w="1926852">
                  <a:extLst>
                    <a:ext uri="{9D8B030D-6E8A-4147-A177-3AD203B41FA5}">
                      <a16:colId xmlns:a16="http://schemas.microsoft.com/office/drawing/2014/main" val="1738265895"/>
                    </a:ext>
                  </a:extLst>
                </a:gridCol>
              </a:tblGrid>
              <a:tr h="7110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chemeClr val="bg2"/>
                          </a:solidFill>
                          <a:effectLst/>
                        </a:rPr>
                        <a:t>CONECTIVO</a:t>
                      </a:r>
                      <a:endParaRPr lang="pt-BR" sz="16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chemeClr val="bg2"/>
                          </a:solidFill>
                          <a:effectLst/>
                        </a:rPr>
                        <a:t>SÍMBOLO LÓGICO</a:t>
                      </a:r>
                      <a:endParaRPr lang="pt-BR" sz="16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chemeClr val="bg2"/>
                          </a:solidFill>
                          <a:effectLst/>
                        </a:rPr>
                        <a:t>SÍMBOLO EM ALGORITMOS</a:t>
                      </a:r>
                      <a:endParaRPr lang="pt-BR" sz="16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chemeClr val="bg2"/>
                          </a:solidFill>
                          <a:effectLst/>
                        </a:rPr>
                        <a:t>FUNÇÃO TÉCNICA</a:t>
                      </a:r>
                      <a:endParaRPr lang="pt-BR" sz="16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>
                          <a:solidFill>
                            <a:schemeClr val="bg2"/>
                          </a:solidFill>
                          <a:effectLst/>
                        </a:rPr>
                        <a:t>EXEMPLO DE CRITÉRIO</a:t>
                      </a:r>
                      <a:endParaRPr lang="pt-BR" sz="16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extLst>
                  <a:ext uri="{0D108BD9-81ED-4DB2-BD59-A6C34878D82A}">
                    <a16:rowId xmlns:a16="http://schemas.microsoft.com/office/drawing/2014/main" val="648983590"/>
                  </a:ext>
                </a:extLst>
              </a:tr>
              <a:tr h="1190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conjunção</a:t>
                      </a:r>
                      <a:endParaRPr lang="pt-BR" sz="140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∧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e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(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and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resulta em verdadeiro </a:t>
                      </a: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apenas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se todas as condições forem verdadeiras.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(idade &gt;= 18) </a:t>
                      </a: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e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(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tem_ingresso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== sim)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extLst>
                  <a:ext uri="{0D108BD9-81ED-4DB2-BD59-A6C34878D82A}">
                    <a16:rowId xmlns:a16="http://schemas.microsoft.com/office/drawing/2014/main" val="1012228279"/>
                  </a:ext>
                </a:extLst>
              </a:tr>
              <a:tr h="1190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disjunção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∨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ou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(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or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resulta em verdadeiro se </a:t>
                      </a: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pelo menos uma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das condições for verdadeira.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(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pagou_pix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== sim) </a:t>
                      </a: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ou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(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pagou_cartao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== sim)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extLst>
                  <a:ext uri="{0D108BD9-81ED-4DB2-BD59-A6C34878D82A}">
                    <a16:rowId xmlns:a16="http://schemas.microsoft.com/office/drawing/2014/main" val="727652793"/>
                  </a:ext>
                </a:extLst>
              </a:tr>
              <a:tr h="9290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negação</a:t>
                      </a:r>
                      <a:endParaRPr lang="pt-BR" sz="140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¬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não</a:t>
                      </a:r>
                      <a:r>
                        <a:rPr lang="pt-BR" sz="1400">
                          <a:solidFill>
                            <a:schemeClr val="bg2"/>
                          </a:solidFill>
                          <a:effectLst/>
                        </a:rPr>
                        <a:t> (not)</a:t>
                      </a:r>
                      <a:endParaRPr lang="pt-BR" sz="140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inverte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o estado lógico. o que é verdadeiro vira falso e vice-versa.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não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(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usuario_bloqueado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extLst>
                  <a:ext uri="{0D108BD9-81ED-4DB2-BD59-A6C34878D82A}">
                    <a16:rowId xmlns:a16="http://schemas.microsoft.com/office/drawing/2014/main" val="696518976"/>
                  </a:ext>
                </a:extLst>
              </a:tr>
              <a:tr h="9290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disjunção exclusiva</a:t>
                      </a:r>
                      <a:endParaRPr lang="pt-BR" sz="140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⊕ / &lt;=&gt;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xor</a:t>
                      </a:r>
                      <a:endParaRPr lang="pt-BR" sz="140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resulta em verdadeiro se as condições forem </a:t>
                      </a: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diferentes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entre si.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(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lampada_a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== 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on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) </a:t>
                      </a:r>
                      <a:r>
                        <a:rPr lang="pt-BR" sz="1400" b="1" dirty="0" err="1">
                          <a:solidFill>
                            <a:schemeClr val="bg2"/>
                          </a:solidFill>
                          <a:effectLst/>
                        </a:rPr>
                        <a:t>xor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(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lampada_b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 == </a:t>
                      </a:r>
                      <a:r>
                        <a:rPr lang="pt-BR" sz="1400" dirty="0" err="1">
                          <a:solidFill>
                            <a:schemeClr val="bg2"/>
                          </a:solidFill>
                          <a:effectLst/>
                        </a:rPr>
                        <a:t>on</a:t>
                      </a:r>
                      <a:r>
                        <a:rPr lang="pt-BR" sz="14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endParaRPr lang="pt-BR" sz="1400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54488" marR="54488" marT="27244" marB="27244" anchor="ctr"/>
                </a:tc>
                <a:extLst>
                  <a:ext uri="{0D108BD9-81ED-4DB2-BD59-A6C34878D82A}">
                    <a16:rowId xmlns:a16="http://schemas.microsoft.com/office/drawing/2014/main" val="157751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852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582AF-CFC9-4C47-7AB7-9C241646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653D0-B8E2-D0B8-F2B2-0C184B0E6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C89367-0BE9-22C6-92FF-BE8B2E17E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/>
          </a:bodyPr>
          <a:lstStyle/>
          <a:p>
            <a:pPr algn="ctr"/>
            <a:r>
              <a:rPr lang="pt-BR" sz="3200" b="1" dirty="0"/>
              <a:t>Como integrar conectivos em um algoritmo (demonstração)</a:t>
            </a:r>
          </a:p>
          <a:p>
            <a:pPr algn="ctr"/>
            <a:r>
              <a:rPr lang="pt-BR" sz="3200" b="1" dirty="0">
                <a:solidFill>
                  <a:schemeClr val="tx1"/>
                </a:solidFill>
              </a:rPr>
              <a:t>EXEMPLO: A integração ocorre principalmente dentro das estruturas de seleção </a:t>
            </a:r>
            <a:r>
              <a:rPr lang="pt-BR" sz="3200" b="1" dirty="0"/>
              <a:t>(</a:t>
            </a:r>
            <a:r>
              <a:rPr lang="pt-BR" b="1" dirty="0"/>
              <a:t>se...então</a:t>
            </a:r>
            <a:r>
              <a:rPr lang="pt-BR" sz="3200" b="1" dirty="0"/>
              <a:t>) </a:t>
            </a:r>
            <a:r>
              <a:rPr lang="pt-BR" sz="3200" b="1" dirty="0">
                <a:solidFill>
                  <a:schemeClr val="tx1"/>
                </a:solidFill>
              </a:rPr>
              <a:t>e estruturas de repetição </a:t>
            </a:r>
            <a:r>
              <a:rPr lang="pt-BR" sz="3200" b="1" dirty="0"/>
              <a:t>(</a:t>
            </a:r>
            <a:r>
              <a:rPr lang="pt-BR" b="1" dirty="0"/>
              <a:t>enquanto...faça</a:t>
            </a:r>
            <a:r>
              <a:rPr lang="pt-BR" sz="3200" b="1" dirty="0"/>
              <a:t>)</a:t>
            </a:r>
            <a:r>
              <a:rPr lang="pt-BR" sz="3200" b="1" dirty="0">
                <a:solidFill>
                  <a:schemeClr val="tx1"/>
                </a:solidFill>
              </a:rPr>
              <a:t>. Eles permitem que o algoritmo tome decisões complexas baseadas em múltiplos fatores simultâneos.</a:t>
            </a:r>
          </a:p>
        </p:txBody>
      </p:sp>
    </p:spTree>
    <p:extLst>
      <p:ext uri="{BB962C8B-B14F-4D97-AF65-F5344CB8AC3E}">
        <p14:creationId xmlns:p14="http://schemas.microsoft.com/office/powerpoint/2010/main" val="847237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567B9-F1B2-EC0C-62EF-79925A2B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4A444-87D5-83EF-50F9-F84908372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C95857-D6C4-8F71-9380-60A1E8D4F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 fontScale="70000" lnSpcReduction="20000"/>
          </a:bodyPr>
          <a:lstStyle/>
          <a:p>
            <a:r>
              <a:rPr lang="pt-BR" sz="3200" b="1" dirty="0">
                <a:solidFill>
                  <a:schemeClr val="tx1"/>
                </a:solidFill>
              </a:rPr>
              <a:t>algoritmo "</a:t>
            </a:r>
            <a:r>
              <a:rPr lang="pt-BR" sz="3200" b="1" dirty="0" err="1">
                <a:solidFill>
                  <a:schemeClr val="tx1"/>
                </a:solidFill>
              </a:rPr>
              <a:t>valida_login</a:t>
            </a:r>
            <a:r>
              <a:rPr lang="pt-BR" sz="3200" b="1" dirty="0">
                <a:solidFill>
                  <a:schemeClr val="tx1"/>
                </a:solidFill>
              </a:rPr>
              <a:t>“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variáveis 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	</a:t>
            </a:r>
            <a:r>
              <a:rPr lang="pt-BR" sz="3200" b="1" dirty="0" err="1">
                <a:solidFill>
                  <a:schemeClr val="tx1"/>
                </a:solidFill>
              </a:rPr>
              <a:t>senha_correta</a:t>
            </a:r>
            <a:r>
              <a:rPr lang="pt-BR" sz="3200" b="1" dirty="0">
                <a:solidFill>
                  <a:schemeClr val="tx1"/>
                </a:solidFill>
              </a:rPr>
              <a:t>, </a:t>
            </a:r>
            <a:r>
              <a:rPr lang="pt-BR" sz="3200" b="1" dirty="0" err="1">
                <a:solidFill>
                  <a:schemeClr val="tx1"/>
                </a:solidFill>
              </a:rPr>
              <a:t>token_valido</a:t>
            </a:r>
            <a:r>
              <a:rPr lang="pt-BR" sz="3200" b="1" dirty="0">
                <a:solidFill>
                  <a:schemeClr val="tx1"/>
                </a:solidFill>
              </a:rPr>
              <a:t> : logico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início  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	Leia (</a:t>
            </a:r>
            <a:r>
              <a:rPr lang="pt-BR" sz="3200" b="1" dirty="0" err="1">
                <a:solidFill>
                  <a:schemeClr val="tx1"/>
                </a:solidFill>
              </a:rPr>
              <a:t>senha_correta</a:t>
            </a:r>
            <a:r>
              <a:rPr lang="pt-BR" sz="3200" b="1" dirty="0">
                <a:solidFill>
                  <a:schemeClr val="tx1"/>
                </a:solidFill>
              </a:rPr>
              <a:t>, </a:t>
            </a:r>
            <a:r>
              <a:rPr lang="pt-BR" sz="3200" b="1" dirty="0" err="1">
                <a:solidFill>
                  <a:schemeClr val="tx1"/>
                </a:solidFill>
              </a:rPr>
              <a:t>token_valido</a:t>
            </a:r>
            <a:r>
              <a:rPr lang="pt-BR" sz="3200" b="1" dirty="0">
                <a:solidFill>
                  <a:schemeClr val="tx1"/>
                </a:solidFill>
              </a:rPr>
              <a:t>) 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	se (</a:t>
            </a:r>
            <a:r>
              <a:rPr lang="pt-BR" sz="3200" b="1" dirty="0" err="1">
                <a:solidFill>
                  <a:schemeClr val="tx1"/>
                </a:solidFill>
              </a:rPr>
              <a:t>senha_correta</a:t>
            </a:r>
            <a:r>
              <a:rPr lang="pt-BR" sz="3200" b="1" dirty="0">
                <a:solidFill>
                  <a:schemeClr val="tx1"/>
                </a:solidFill>
              </a:rPr>
              <a:t> = verdadeiro) e (</a:t>
            </a:r>
            <a:r>
              <a:rPr lang="pt-BR" sz="3200" b="1" dirty="0" err="1">
                <a:solidFill>
                  <a:schemeClr val="tx1"/>
                </a:solidFill>
              </a:rPr>
              <a:t>token_valido</a:t>
            </a:r>
            <a:r>
              <a:rPr lang="pt-BR" sz="3200" b="1" dirty="0">
                <a:solidFill>
                  <a:schemeClr val="tx1"/>
                </a:solidFill>
              </a:rPr>
              <a:t> = 	verdadeiro) então 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	escreva("acesso permitido") 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senão 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	escreva("acesso negado")</a:t>
            </a:r>
          </a:p>
          <a:p>
            <a:r>
              <a:rPr lang="pt-BR" sz="3200" b="1" dirty="0" err="1">
                <a:solidFill>
                  <a:schemeClr val="tx1"/>
                </a:solidFill>
              </a:rPr>
              <a:t>fim_se</a:t>
            </a:r>
            <a:endParaRPr lang="pt-BR" sz="3200" b="1" dirty="0">
              <a:solidFill>
                <a:schemeClr val="tx1"/>
              </a:solidFill>
            </a:endParaRPr>
          </a:p>
          <a:p>
            <a:r>
              <a:rPr lang="pt-BR" sz="3200" b="1" dirty="0">
                <a:solidFill>
                  <a:schemeClr val="tx1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920907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6D97-20A6-FC65-8A7F-C3F370FAC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4327B-8C34-5461-D150-EFB90AE30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FF0D3D-0ED8-16B9-B92C-0981115B9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5929" y="1947134"/>
            <a:ext cx="6922546" cy="3334872"/>
          </a:xfrm>
        </p:spPr>
        <p:txBody>
          <a:bodyPr anchor="ctr">
            <a:normAutofit/>
          </a:bodyPr>
          <a:lstStyle/>
          <a:p>
            <a:pPr algn="ctr"/>
            <a:r>
              <a:rPr lang="pt-BR" sz="6000" b="1" dirty="0">
                <a:solidFill>
                  <a:schemeClr val="tx1"/>
                </a:solidFill>
              </a:rPr>
              <a:t>APLICAÇÃO EM PYTHON</a:t>
            </a:r>
          </a:p>
        </p:txBody>
      </p:sp>
    </p:spTree>
    <p:extLst>
      <p:ext uri="{BB962C8B-B14F-4D97-AF65-F5344CB8AC3E}">
        <p14:creationId xmlns:p14="http://schemas.microsoft.com/office/powerpoint/2010/main" val="3392603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9F14-AC7B-60C9-7F7E-C84ECF60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071D7-DBD7-A24F-B7BE-2A8AF44DB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A74117-BEFD-5AB9-0614-D65638F0D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 fontScale="85000" lnSpcReduction="10000"/>
          </a:bodyPr>
          <a:lstStyle/>
          <a:p>
            <a:r>
              <a:rPr lang="pt-BR" sz="3200" b="1" dirty="0"/>
              <a:t># declaração de variáveis (simulação de entrada)</a:t>
            </a:r>
          </a:p>
          <a:p>
            <a:r>
              <a:rPr lang="pt-BR" sz="3200" b="1" dirty="0" err="1">
                <a:solidFill>
                  <a:schemeClr val="tx1"/>
                </a:solidFill>
              </a:rPr>
              <a:t>senha_correta</a:t>
            </a:r>
            <a:r>
              <a:rPr lang="pt-BR" sz="3200" b="1" dirty="0">
                <a:solidFill>
                  <a:schemeClr val="tx1"/>
                </a:solidFill>
              </a:rPr>
              <a:t> = </a:t>
            </a:r>
            <a:r>
              <a:rPr lang="pt-BR" sz="3200" b="1" dirty="0" err="1">
                <a:solidFill>
                  <a:schemeClr val="tx1"/>
                </a:solidFill>
              </a:rPr>
              <a:t>True</a:t>
            </a:r>
            <a:endParaRPr lang="pt-BR" sz="3200" b="1" dirty="0">
              <a:solidFill>
                <a:schemeClr val="tx1"/>
              </a:solidFill>
            </a:endParaRPr>
          </a:p>
          <a:p>
            <a:r>
              <a:rPr lang="pt-BR" sz="3200" b="1" dirty="0" err="1">
                <a:solidFill>
                  <a:schemeClr val="tx1"/>
                </a:solidFill>
              </a:rPr>
              <a:t>token_valido</a:t>
            </a:r>
            <a:r>
              <a:rPr lang="pt-BR" sz="3200" b="1" dirty="0">
                <a:solidFill>
                  <a:schemeClr val="tx1"/>
                </a:solidFill>
              </a:rPr>
              <a:t> = False</a:t>
            </a:r>
          </a:p>
          <a:p>
            <a:endParaRPr lang="pt-BR" sz="3200" b="1" dirty="0">
              <a:solidFill>
                <a:schemeClr val="tx1"/>
              </a:solidFill>
            </a:endParaRPr>
          </a:p>
          <a:p>
            <a:r>
              <a:rPr lang="pt-BR" sz="3200" b="1" dirty="0"/>
              <a:t># estrutura de decisão com conectivo lógico '</a:t>
            </a:r>
            <a:r>
              <a:rPr lang="pt-BR" sz="3200" b="1" dirty="0" err="1"/>
              <a:t>and</a:t>
            </a:r>
            <a:r>
              <a:rPr lang="pt-BR" sz="3200" b="1" dirty="0"/>
              <a:t>' (e)</a:t>
            </a:r>
          </a:p>
          <a:p>
            <a:r>
              <a:rPr lang="pt-BR" sz="3200" b="1" dirty="0" err="1">
                <a:solidFill>
                  <a:schemeClr val="tx1"/>
                </a:solidFill>
              </a:rPr>
              <a:t>if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senha_correta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and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token_valido</a:t>
            </a:r>
            <a:r>
              <a:rPr lang="pt-BR" sz="3200" b="1" dirty="0">
                <a:solidFill>
                  <a:schemeClr val="tx1"/>
                </a:solidFill>
              </a:rPr>
              <a:t>: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    print("acesso permitido: bem-vindo ao sistema.")</a:t>
            </a:r>
          </a:p>
          <a:p>
            <a:r>
              <a:rPr lang="pt-BR" sz="3200" b="1" dirty="0" err="1">
                <a:solidFill>
                  <a:schemeClr val="tx1"/>
                </a:solidFill>
              </a:rPr>
              <a:t>else</a:t>
            </a:r>
            <a:r>
              <a:rPr lang="pt-BR" sz="3200" b="1" dirty="0">
                <a:solidFill>
                  <a:schemeClr val="tx1"/>
                </a:solidFill>
              </a:rPr>
              <a:t>: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    print("acesso negado: verifique suas credenciais.")</a:t>
            </a:r>
          </a:p>
        </p:txBody>
      </p:sp>
    </p:spTree>
    <p:extLst>
      <p:ext uri="{BB962C8B-B14F-4D97-AF65-F5344CB8AC3E}">
        <p14:creationId xmlns:p14="http://schemas.microsoft.com/office/powerpoint/2010/main" val="1957147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95E1F-51A5-2894-DD22-10ADBD707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DE5C2-48BE-D9F4-BD08-CC5D983F8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C3EB75-2868-7850-533E-235E407B6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6548" y="1723912"/>
            <a:ext cx="6018903" cy="3410175"/>
          </a:xfrm>
        </p:spPr>
        <p:txBody>
          <a:bodyPr anchor="ctr">
            <a:normAutofit/>
          </a:bodyPr>
          <a:lstStyle/>
          <a:p>
            <a:pPr algn="ctr"/>
            <a:r>
              <a:rPr lang="pt-BR" sz="6000" b="1" dirty="0">
                <a:solidFill>
                  <a:schemeClr val="tx1"/>
                </a:solidFill>
              </a:rPr>
              <a:t>APLICAÇÃO EM PHP</a:t>
            </a:r>
          </a:p>
        </p:txBody>
      </p:sp>
    </p:spTree>
    <p:extLst>
      <p:ext uri="{BB962C8B-B14F-4D97-AF65-F5344CB8AC3E}">
        <p14:creationId xmlns:p14="http://schemas.microsoft.com/office/powerpoint/2010/main" val="2629835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4DF2-D580-7EE2-2C79-DA3FB03B9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2B265-E760-04D7-2C34-AEE6673A8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E0F7E3-4C6B-0017-A1C3-094DF8B9B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 fontScale="62500" lnSpcReduction="20000"/>
          </a:bodyPr>
          <a:lstStyle/>
          <a:p>
            <a:r>
              <a:rPr lang="pt-BR" sz="3200" b="1" dirty="0">
                <a:solidFill>
                  <a:schemeClr val="tx1"/>
                </a:solidFill>
              </a:rPr>
              <a:t>&lt;?</a:t>
            </a:r>
            <a:r>
              <a:rPr lang="pt-BR" sz="3200" b="1" dirty="0" err="1">
                <a:solidFill>
                  <a:schemeClr val="tx1"/>
                </a:solidFill>
              </a:rPr>
              <a:t>php</a:t>
            </a:r>
            <a:endParaRPr lang="pt-BR" sz="3200" b="1" dirty="0">
              <a:solidFill>
                <a:schemeClr val="tx1"/>
              </a:solidFill>
            </a:endParaRPr>
          </a:p>
          <a:p>
            <a:r>
              <a:rPr lang="pt-BR" sz="3200" b="1" dirty="0"/>
              <a:t>// declaração de variáveis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$</a:t>
            </a:r>
            <a:r>
              <a:rPr lang="pt-BR" sz="3200" b="1" dirty="0" err="1">
                <a:solidFill>
                  <a:schemeClr val="tx1"/>
                </a:solidFill>
              </a:rPr>
              <a:t>senha_correta</a:t>
            </a:r>
            <a:r>
              <a:rPr lang="pt-BR" sz="3200" b="1" dirty="0">
                <a:solidFill>
                  <a:schemeClr val="tx1"/>
                </a:solidFill>
              </a:rPr>
              <a:t> = </a:t>
            </a:r>
            <a:r>
              <a:rPr lang="pt-BR" sz="3200" b="1" dirty="0" err="1">
                <a:solidFill>
                  <a:schemeClr val="tx1"/>
                </a:solidFill>
              </a:rPr>
              <a:t>true</a:t>
            </a:r>
            <a:r>
              <a:rPr lang="pt-BR" sz="3200" b="1" dirty="0">
                <a:solidFill>
                  <a:schemeClr val="tx1"/>
                </a:solidFill>
              </a:rPr>
              <a:t>;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$</a:t>
            </a:r>
            <a:r>
              <a:rPr lang="pt-BR" sz="3200" b="1" dirty="0" err="1">
                <a:solidFill>
                  <a:schemeClr val="tx1"/>
                </a:solidFill>
              </a:rPr>
              <a:t>token_valido</a:t>
            </a:r>
            <a:r>
              <a:rPr lang="pt-BR" sz="3200" b="1" dirty="0">
                <a:solidFill>
                  <a:schemeClr val="tx1"/>
                </a:solidFill>
              </a:rPr>
              <a:t> = </a:t>
            </a:r>
            <a:r>
              <a:rPr lang="pt-BR" sz="3200" b="1" dirty="0" err="1">
                <a:solidFill>
                  <a:schemeClr val="tx1"/>
                </a:solidFill>
              </a:rPr>
              <a:t>true</a:t>
            </a:r>
            <a:r>
              <a:rPr lang="pt-BR" sz="3200" b="1" dirty="0">
                <a:solidFill>
                  <a:schemeClr val="tx1"/>
                </a:solidFill>
              </a:rPr>
              <a:t>;</a:t>
            </a:r>
          </a:p>
          <a:p>
            <a:endParaRPr lang="pt-BR" sz="3200" b="1" dirty="0"/>
          </a:p>
          <a:p>
            <a:r>
              <a:rPr lang="pt-BR" sz="3200" b="1" dirty="0"/>
              <a:t>// estrutura de decisão com conectivo lógico '&amp;&amp;' (equivalente ao 'e')</a:t>
            </a:r>
          </a:p>
          <a:p>
            <a:r>
              <a:rPr lang="pt-BR" sz="3200" b="1" dirty="0" err="1">
                <a:solidFill>
                  <a:schemeClr val="tx1"/>
                </a:solidFill>
              </a:rPr>
              <a:t>if</a:t>
            </a:r>
            <a:r>
              <a:rPr lang="pt-BR" sz="3200" b="1" dirty="0">
                <a:solidFill>
                  <a:schemeClr val="tx1"/>
                </a:solidFill>
              </a:rPr>
              <a:t> ($</a:t>
            </a:r>
            <a:r>
              <a:rPr lang="pt-BR" sz="3200" b="1" dirty="0" err="1">
                <a:solidFill>
                  <a:schemeClr val="tx1"/>
                </a:solidFill>
              </a:rPr>
              <a:t>senha_correta</a:t>
            </a:r>
            <a:r>
              <a:rPr lang="pt-BR" sz="3200" b="1" dirty="0">
                <a:solidFill>
                  <a:schemeClr val="tx1"/>
                </a:solidFill>
              </a:rPr>
              <a:t> &amp;&amp; $</a:t>
            </a:r>
            <a:r>
              <a:rPr lang="pt-BR" sz="3200" b="1" dirty="0" err="1">
                <a:solidFill>
                  <a:schemeClr val="tx1"/>
                </a:solidFill>
              </a:rPr>
              <a:t>token_valido</a:t>
            </a:r>
            <a:r>
              <a:rPr lang="pt-BR" sz="3200" b="1" dirty="0">
                <a:solidFill>
                  <a:schemeClr val="tx1"/>
                </a:solidFill>
              </a:rPr>
              <a:t>) {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    </a:t>
            </a:r>
            <a:r>
              <a:rPr lang="pt-BR" sz="3200" b="1" dirty="0" err="1">
                <a:solidFill>
                  <a:schemeClr val="tx1"/>
                </a:solidFill>
              </a:rPr>
              <a:t>echo</a:t>
            </a:r>
            <a:r>
              <a:rPr lang="pt-BR" sz="3200" b="1" dirty="0">
                <a:solidFill>
                  <a:schemeClr val="tx1"/>
                </a:solidFill>
              </a:rPr>
              <a:t> "acesso permitido: bem-vindo ao sistema.";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} </a:t>
            </a:r>
            <a:r>
              <a:rPr lang="pt-BR" sz="3200" b="1" dirty="0" err="1">
                <a:solidFill>
                  <a:schemeClr val="tx1"/>
                </a:solidFill>
              </a:rPr>
              <a:t>else</a:t>
            </a:r>
            <a:r>
              <a:rPr lang="pt-BR" sz="3200" b="1" dirty="0">
                <a:solidFill>
                  <a:schemeClr val="tx1"/>
                </a:solidFill>
              </a:rPr>
              <a:t> {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    </a:t>
            </a:r>
            <a:r>
              <a:rPr lang="pt-BR" sz="3200" b="1" dirty="0" err="1">
                <a:solidFill>
                  <a:schemeClr val="tx1"/>
                </a:solidFill>
              </a:rPr>
              <a:t>echo</a:t>
            </a:r>
            <a:r>
              <a:rPr lang="pt-BR" sz="3200" b="1" dirty="0">
                <a:solidFill>
                  <a:schemeClr val="tx1"/>
                </a:solidFill>
              </a:rPr>
              <a:t> "acesso negado: verifique suas credenciais.";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}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466511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B2853-7615-AE6F-A4AB-A24A1F76D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19B49-2D5E-EE8C-3AB6-C4931A023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F227B16-6117-463B-D8C1-450F01946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672694"/>
              </p:ext>
            </p:extLst>
          </p:nvPr>
        </p:nvGraphicFramePr>
        <p:xfrm>
          <a:off x="1356563" y="1298656"/>
          <a:ext cx="10293968" cy="506987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73492">
                  <a:extLst>
                    <a:ext uri="{9D8B030D-6E8A-4147-A177-3AD203B41FA5}">
                      <a16:colId xmlns:a16="http://schemas.microsoft.com/office/drawing/2014/main" val="33124732"/>
                    </a:ext>
                  </a:extLst>
                </a:gridCol>
                <a:gridCol w="2573492">
                  <a:extLst>
                    <a:ext uri="{9D8B030D-6E8A-4147-A177-3AD203B41FA5}">
                      <a16:colId xmlns:a16="http://schemas.microsoft.com/office/drawing/2014/main" val="3358392680"/>
                    </a:ext>
                  </a:extLst>
                </a:gridCol>
                <a:gridCol w="2573492">
                  <a:extLst>
                    <a:ext uri="{9D8B030D-6E8A-4147-A177-3AD203B41FA5}">
                      <a16:colId xmlns:a16="http://schemas.microsoft.com/office/drawing/2014/main" val="2797240546"/>
                    </a:ext>
                  </a:extLst>
                </a:gridCol>
                <a:gridCol w="2573492">
                  <a:extLst>
                    <a:ext uri="{9D8B030D-6E8A-4147-A177-3AD203B41FA5}">
                      <a16:colId xmlns:a16="http://schemas.microsoft.com/office/drawing/2014/main" val="1255461913"/>
                    </a:ext>
                  </a:extLst>
                </a:gridCol>
              </a:tblGrid>
              <a:tr h="1013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ELEMENTO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EM PYTHON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EM PHP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FUNÇÃO NA LÓGICA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076342"/>
                  </a:ext>
                </a:extLst>
              </a:tr>
              <a:tr h="1013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variável booleana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solidFill>
                            <a:schemeClr val="bg2"/>
                          </a:solidFill>
                          <a:effectLst/>
                        </a:rPr>
                        <a:t>True</a:t>
                      </a: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 / False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solidFill>
                            <a:schemeClr val="bg2"/>
                          </a:solidFill>
                          <a:effectLst/>
                        </a:rPr>
                        <a:t>true</a:t>
                      </a: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 / false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solidFill>
                            <a:schemeClr val="bg2"/>
                          </a:solidFill>
                          <a:effectLst/>
                        </a:rPr>
                        <a:t>armazena o estado (bit)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312849"/>
                  </a:ext>
                </a:extLst>
              </a:tr>
              <a:tr h="1013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chemeClr val="bg2"/>
                          </a:solidFill>
                          <a:effectLst/>
                        </a:rPr>
                        <a:t>conectivo "e"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 err="1">
                          <a:solidFill>
                            <a:schemeClr val="bg2"/>
                          </a:solidFill>
                          <a:effectLst/>
                        </a:rPr>
                        <a:t>and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&amp;&amp; ou 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  <a:effectLst/>
                        </a:rPr>
                        <a:t>and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solidFill>
                            <a:schemeClr val="bg2"/>
                          </a:solidFill>
                          <a:effectLst/>
                        </a:rPr>
                        <a:t>exige sucesso duplo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467847"/>
                  </a:ext>
                </a:extLst>
              </a:tr>
              <a:tr h="1013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chemeClr val="bg2"/>
                          </a:solidFill>
                          <a:effectLst/>
                        </a:rPr>
                        <a:t>conectivo "ou"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solidFill>
                            <a:schemeClr val="bg2"/>
                          </a:solidFill>
                          <a:effectLst/>
                        </a:rPr>
                        <a:t>or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|| ou 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  <a:effectLst/>
                        </a:rPr>
                        <a:t>or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exige sucesso simples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451839"/>
                  </a:ext>
                </a:extLst>
              </a:tr>
              <a:tr h="1013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chemeClr val="bg2"/>
                          </a:solidFill>
                          <a:effectLst/>
                        </a:rPr>
                        <a:t>negação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solidFill>
                            <a:schemeClr val="bg2"/>
                          </a:solidFill>
                          <a:effectLst/>
                        </a:rPr>
                        <a:t>not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solidFill>
                            <a:schemeClr val="bg2"/>
                          </a:solidFill>
                          <a:effectLst/>
                        </a:rPr>
                        <a:t>!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inverte o resultado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463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900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E3E4D-EDCB-8A7A-D7F8-0DB76DBF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D82D3-161E-3842-41E9-8370CC6FE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ED5927-D8EE-2559-EB28-C2108AE3A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5925" y="1882587"/>
            <a:ext cx="8052099" cy="3496237"/>
          </a:xfrm>
        </p:spPr>
        <p:txBody>
          <a:bodyPr anchor="ctr">
            <a:normAutofit/>
          </a:bodyPr>
          <a:lstStyle/>
          <a:p>
            <a:pPr algn="ctr"/>
            <a:r>
              <a:rPr lang="pt-BR" sz="6000" b="1" dirty="0">
                <a:solidFill>
                  <a:schemeClr val="tx1"/>
                </a:solidFill>
              </a:rPr>
              <a:t>CONECTIVOS </a:t>
            </a:r>
            <a:br>
              <a:rPr lang="pt-BR" sz="6000" b="1" dirty="0">
                <a:solidFill>
                  <a:schemeClr val="tx1"/>
                </a:solidFill>
              </a:rPr>
            </a:br>
            <a:r>
              <a:rPr lang="pt-BR" sz="6000" b="1" dirty="0">
                <a:solidFill>
                  <a:schemeClr val="tx1"/>
                </a:solidFill>
              </a:rPr>
              <a:t>PYTHON E JAVA</a:t>
            </a:r>
          </a:p>
        </p:txBody>
      </p:sp>
    </p:spTree>
    <p:extLst>
      <p:ext uri="{BB962C8B-B14F-4D97-AF65-F5344CB8AC3E}">
        <p14:creationId xmlns:p14="http://schemas.microsoft.com/office/powerpoint/2010/main" val="2641812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0701-9999-C873-4A52-B2C27956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0EE07-362F-8C92-8686-02D450166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1FB36F7-419A-9ADC-826F-12E7CDF3E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340621"/>
              </p:ext>
            </p:extLst>
          </p:nvPr>
        </p:nvGraphicFramePr>
        <p:xfrm>
          <a:off x="1086522" y="903642"/>
          <a:ext cx="10746888" cy="583871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791148">
                  <a:extLst>
                    <a:ext uri="{9D8B030D-6E8A-4147-A177-3AD203B41FA5}">
                      <a16:colId xmlns:a16="http://schemas.microsoft.com/office/drawing/2014/main" val="136610770"/>
                    </a:ext>
                  </a:extLst>
                </a:gridCol>
                <a:gridCol w="1791148">
                  <a:extLst>
                    <a:ext uri="{9D8B030D-6E8A-4147-A177-3AD203B41FA5}">
                      <a16:colId xmlns:a16="http://schemas.microsoft.com/office/drawing/2014/main" val="661258376"/>
                    </a:ext>
                  </a:extLst>
                </a:gridCol>
                <a:gridCol w="1791148">
                  <a:extLst>
                    <a:ext uri="{9D8B030D-6E8A-4147-A177-3AD203B41FA5}">
                      <a16:colId xmlns:a16="http://schemas.microsoft.com/office/drawing/2014/main" val="642296251"/>
                    </a:ext>
                  </a:extLst>
                </a:gridCol>
                <a:gridCol w="1791148">
                  <a:extLst>
                    <a:ext uri="{9D8B030D-6E8A-4147-A177-3AD203B41FA5}">
                      <a16:colId xmlns:a16="http://schemas.microsoft.com/office/drawing/2014/main" val="1156406666"/>
                    </a:ext>
                  </a:extLst>
                </a:gridCol>
                <a:gridCol w="1791148">
                  <a:extLst>
                    <a:ext uri="{9D8B030D-6E8A-4147-A177-3AD203B41FA5}">
                      <a16:colId xmlns:a16="http://schemas.microsoft.com/office/drawing/2014/main" val="2496079539"/>
                    </a:ext>
                  </a:extLst>
                </a:gridCol>
                <a:gridCol w="1791148">
                  <a:extLst>
                    <a:ext uri="{9D8B030D-6E8A-4147-A177-3AD203B41FA5}">
                      <a16:colId xmlns:a16="http://schemas.microsoft.com/office/drawing/2014/main" val="4040249532"/>
                    </a:ext>
                  </a:extLst>
                </a:gridCol>
              </a:tblGrid>
              <a:tr h="5168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NOME DO CONECTIVO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SÍMBOLO LÓGICO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FUNÇÃO NA LÓGICA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SINTAXE EM PYTHON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SINTAXE EM JAVA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EXEMPLO DE CONDIÇÃO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extLst>
                  <a:ext uri="{0D108BD9-81ED-4DB2-BD59-A6C34878D82A}">
                    <a16:rowId xmlns:a16="http://schemas.microsoft.com/office/drawing/2014/main" val="2823721131"/>
                  </a:ext>
                </a:extLst>
              </a:tr>
              <a:tr h="11831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conjunção (e)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200" b="1" dirty="0">
                          <a:solidFill>
                            <a:schemeClr val="bg2"/>
                          </a:solidFill>
                          <a:effectLst/>
                        </a:rPr>
                        <a:t>∧</a:t>
                      </a:r>
                      <a:endParaRPr lang="pt-BR" sz="32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verdadeiro se todas as condições forem verdadeiras.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 err="1">
                          <a:solidFill>
                            <a:schemeClr val="bg2"/>
                          </a:solidFill>
                          <a:effectLst/>
                        </a:rPr>
                        <a:t>and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>
                          <a:solidFill>
                            <a:schemeClr val="bg2"/>
                          </a:solidFill>
                          <a:effectLst/>
                        </a:rPr>
                        <a:t>&amp;&amp;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(idade &gt;= 18 </a:t>
                      </a:r>
                      <a:r>
                        <a:rPr lang="pt-BR" sz="1400" b="1" dirty="0" err="1">
                          <a:solidFill>
                            <a:schemeClr val="bg2"/>
                          </a:solidFill>
                          <a:effectLst/>
                        </a:rPr>
                        <a:t>and</a:t>
                      </a: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 </a:t>
                      </a:r>
                      <a:r>
                        <a:rPr lang="pt-BR" sz="1400" b="1" dirty="0" err="1">
                          <a:solidFill>
                            <a:schemeClr val="bg2"/>
                          </a:solidFill>
                          <a:effectLst/>
                        </a:rPr>
                        <a:t>tem_cnh</a:t>
                      </a: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extLst>
                  <a:ext uri="{0D108BD9-81ED-4DB2-BD59-A6C34878D82A}">
                    <a16:rowId xmlns:a16="http://schemas.microsoft.com/office/drawing/2014/main" val="2793989349"/>
                  </a:ext>
                </a:extLst>
              </a:tr>
              <a:tr h="9610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disjunção (ou)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200" b="1" dirty="0">
                          <a:solidFill>
                            <a:schemeClr val="bg2"/>
                          </a:solidFill>
                          <a:effectLst/>
                        </a:rPr>
                        <a:t>∨</a:t>
                      </a:r>
                      <a:endParaRPr lang="pt-BR" sz="32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verdadeiro se pelo menos uma for verdadeira.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 err="1">
                          <a:solidFill>
                            <a:schemeClr val="bg2"/>
                          </a:solidFill>
                          <a:effectLst/>
                        </a:rPr>
                        <a:t>or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>
                          <a:solidFill>
                            <a:schemeClr val="bg2"/>
                          </a:solidFill>
                          <a:effectLst/>
                        </a:rPr>
                        <a:t>||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(tem_dinheiro or tem_cartao)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extLst>
                  <a:ext uri="{0D108BD9-81ED-4DB2-BD59-A6C34878D82A}">
                    <a16:rowId xmlns:a16="http://schemas.microsoft.com/office/drawing/2014/main" val="2297955884"/>
                  </a:ext>
                </a:extLst>
              </a:tr>
              <a:tr h="7389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negação (não)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200" b="1" dirty="0">
                          <a:solidFill>
                            <a:schemeClr val="bg2"/>
                          </a:solidFill>
                          <a:effectLst/>
                        </a:rPr>
                        <a:t>¬</a:t>
                      </a:r>
                      <a:endParaRPr lang="pt-BR" sz="32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inverte o valor lógico (v vira f / f vira v).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 err="1">
                          <a:solidFill>
                            <a:schemeClr val="bg2"/>
                          </a:solidFill>
                          <a:effectLst/>
                        </a:rPr>
                        <a:t>not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>
                          <a:solidFill>
                            <a:schemeClr val="bg2"/>
                          </a:solidFill>
                          <a:effectLst/>
                        </a:rPr>
                        <a:t>!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not (esta_chovendo)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extLst>
                  <a:ext uri="{0D108BD9-81ED-4DB2-BD59-A6C34878D82A}">
                    <a16:rowId xmlns:a16="http://schemas.microsoft.com/office/drawing/2014/main" val="1277464472"/>
                  </a:ext>
                </a:extLst>
              </a:tr>
              <a:tr h="9610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disjunção exclusiva (xor)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200" b="1" dirty="0">
                          <a:solidFill>
                            <a:schemeClr val="bg2"/>
                          </a:solidFill>
                          <a:effectLst/>
                        </a:rPr>
                        <a:t>⊕</a:t>
                      </a:r>
                      <a:endParaRPr lang="pt-BR" sz="32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verdadeiro se as condições forem diferentes.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>
                          <a:solidFill>
                            <a:schemeClr val="bg2"/>
                          </a:solidFill>
                          <a:effectLst/>
                        </a:rPr>
                        <a:t>^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>
                          <a:solidFill>
                            <a:schemeClr val="bg2"/>
                          </a:solidFill>
                          <a:effectLst/>
                        </a:rPr>
                        <a:t>^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(porta_a_aberta ^ porta_b_aberta)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extLst>
                  <a:ext uri="{0D108BD9-81ED-4DB2-BD59-A6C34878D82A}">
                    <a16:rowId xmlns:a16="http://schemas.microsoft.com/office/drawing/2014/main" val="2484505795"/>
                  </a:ext>
                </a:extLst>
              </a:tr>
              <a:tr h="7389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comparação: igual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200" b="1" dirty="0">
                          <a:solidFill>
                            <a:schemeClr val="bg2"/>
                          </a:solidFill>
                          <a:effectLst/>
                        </a:rPr>
                        <a:t>=</a:t>
                      </a:r>
                      <a:endParaRPr lang="pt-BR" sz="32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verifica se dois valores são idênticos.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>
                          <a:solidFill>
                            <a:schemeClr val="bg2"/>
                          </a:solidFill>
                          <a:effectLst/>
                        </a:rPr>
                        <a:t>==</a:t>
                      </a:r>
                      <a:endParaRPr lang="pt-BR" sz="2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>
                          <a:solidFill>
                            <a:schemeClr val="bg2"/>
                          </a:solidFill>
                          <a:effectLst/>
                        </a:rPr>
                        <a:t>==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(cor == "azul")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extLst>
                  <a:ext uri="{0D108BD9-81ED-4DB2-BD59-A6C34878D82A}">
                    <a16:rowId xmlns:a16="http://schemas.microsoft.com/office/drawing/2014/main" val="3774590494"/>
                  </a:ext>
                </a:extLst>
              </a:tr>
              <a:tr h="7389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comparação: diferente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200" b="1" dirty="0">
                          <a:solidFill>
                            <a:schemeClr val="bg2"/>
                          </a:solidFill>
                          <a:effectLst/>
                        </a:rPr>
                        <a:t>≠</a:t>
                      </a:r>
                      <a:endParaRPr lang="pt-BR" sz="32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>
                          <a:solidFill>
                            <a:schemeClr val="bg2"/>
                          </a:solidFill>
                          <a:effectLst/>
                        </a:rPr>
                        <a:t>verifica se dois valores são distintos.</a:t>
                      </a:r>
                      <a:endParaRPr lang="pt-BR" sz="1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>
                          <a:solidFill>
                            <a:schemeClr val="bg2"/>
                          </a:solidFill>
                          <a:effectLst/>
                        </a:rPr>
                        <a:t>!=</a:t>
                      </a:r>
                      <a:endParaRPr lang="pt-BR" sz="2400" b="1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400" b="1" dirty="0">
                          <a:solidFill>
                            <a:schemeClr val="bg2"/>
                          </a:solidFill>
                          <a:effectLst/>
                        </a:rPr>
                        <a:t>!=</a:t>
                      </a:r>
                      <a:endParaRPr lang="pt-BR" sz="2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bg2"/>
                          </a:solidFill>
                          <a:effectLst/>
                        </a:rPr>
                        <a:t>(senha != "1234")</a:t>
                      </a:r>
                      <a:endParaRPr lang="pt-BR" sz="1400" b="1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marL="44832" marR="44832" marT="22416" marB="22416" anchor="ctr"/>
                </a:tc>
                <a:extLst>
                  <a:ext uri="{0D108BD9-81ED-4DB2-BD59-A6C34878D82A}">
                    <a16:rowId xmlns:a16="http://schemas.microsoft.com/office/drawing/2014/main" val="2595862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005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C965C-C387-EC0D-5BDB-8CF5F6B7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88637-97B6-6B99-AFA8-22DC46F9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1E9351-31F7-637F-B85A-63D4B92D8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0621" y="1409252"/>
            <a:ext cx="8815891" cy="4959276"/>
          </a:xfrm>
        </p:spPr>
        <p:txBody>
          <a:bodyPr anchor="ctr">
            <a:normAutofit/>
          </a:bodyPr>
          <a:lstStyle/>
          <a:p>
            <a:pPr algn="ctr"/>
            <a:r>
              <a:rPr lang="pt-BR" sz="3200" b="1" dirty="0"/>
              <a:t>demonstração prática integrada:</a:t>
            </a:r>
          </a:p>
          <a:p>
            <a:pPr algn="ctr"/>
            <a:endParaRPr lang="pt-BR" sz="3200" b="1" dirty="0"/>
          </a:p>
          <a:p>
            <a:pPr algn="ctr"/>
            <a:r>
              <a:rPr lang="pt-BR" sz="3200" b="1" dirty="0">
                <a:solidFill>
                  <a:schemeClr val="tx1"/>
                </a:solidFill>
              </a:rPr>
              <a:t>Imagine um sistema de segurança de aeroporto. O passageiro só embarca se:</a:t>
            </a:r>
          </a:p>
          <a:p>
            <a:pPr algn="ctr"/>
            <a:r>
              <a:rPr lang="pt-BR" sz="3200" b="1" dirty="0">
                <a:solidFill>
                  <a:schemeClr val="tx1"/>
                </a:solidFill>
              </a:rPr>
              <a:t>Tiver passaporte E passagem.</a:t>
            </a:r>
          </a:p>
          <a:p>
            <a:pPr algn="ctr"/>
            <a:r>
              <a:rPr lang="pt-BR" sz="3200" b="1" dirty="0">
                <a:solidFill>
                  <a:schemeClr val="tx1"/>
                </a:solidFill>
              </a:rPr>
              <a:t>NÃO portar objetos proibidos.</a:t>
            </a:r>
          </a:p>
          <a:p>
            <a:pPr algn="ctr"/>
            <a:r>
              <a:rPr lang="pt-BR" sz="3200" b="1" dirty="0">
                <a:solidFill>
                  <a:schemeClr val="tx1"/>
                </a:solidFill>
              </a:rPr>
              <a:t>Tiver visto OU for cidadão nativo.</a:t>
            </a:r>
          </a:p>
          <a:p>
            <a:endParaRPr lang="pt-BR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321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FB5F-F7D8-4CEF-6D45-FF3E913D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BF959-0864-1F30-D351-2E456F1FE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D65CD3-5151-96CE-7181-8720CF4FF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0621" y="1409252"/>
            <a:ext cx="8815891" cy="4959276"/>
          </a:xfrm>
        </p:spPr>
        <p:txBody>
          <a:bodyPr anchor="ctr">
            <a:normAutofit fontScale="55000" lnSpcReduction="20000"/>
          </a:bodyPr>
          <a:lstStyle/>
          <a:p>
            <a:r>
              <a:rPr lang="pt-BR" sz="3200" b="1" dirty="0" err="1">
                <a:solidFill>
                  <a:schemeClr val="tx1"/>
                </a:solidFill>
              </a:rPr>
              <a:t>tem_passaporte</a:t>
            </a:r>
            <a:r>
              <a:rPr lang="pt-BR" sz="3200" b="1" dirty="0">
                <a:solidFill>
                  <a:schemeClr val="tx1"/>
                </a:solidFill>
              </a:rPr>
              <a:t> = </a:t>
            </a:r>
            <a:r>
              <a:rPr lang="pt-BR" sz="3200" b="1" dirty="0" err="1">
                <a:solidFill>
                  <a:schemeClr val="tx1"/>
                </a:solidFill>
              </a:rPr>
              <a:t>True</a:t>
            </a:r>
            <a:endParaRPr lang="pt-BR" sz="3200" b="1" dirty="0">
              <a:solidFill>
                <a:schemeClr val="tx1"/>
              </a:solidFill>
            </a:endParaRPr>
          </a:p>
          <a:p>
            <a:r>
              <a:rPr lang="pt-BR" sz="3200" b="1" dirty="0" err="1">
                <a:solidFill>
                  <a:schemeClr val="tx1"/>
                </a:solidFill>
              </a:rPr>
              <a:t>tem_passagem</a:t>
            </a:r>
            <a:r>
              <a:rPr lang="pt-BR" sz="3200" b="1" dirty="0">
                <a:solidFill>
                  <a:schemeClr val="tx1"/>
                </a:solidFill>
              </a:rPr>
              <a:t> = </a:t>
            </a:r>
            <a:r>
              <a:rPr lang="pt-BR" sz="3200" b="1" dirty="0" err="1">
                <a:solidFill>
                  <a:schemeClr val="tx1"/>
                </a:solidFill>
              </a:rPr>
              <a:t>True</a:t>
            </a:r>
            <a:endParaRPr lang="pt-BR" sz="3200" b="1" dirty="0">
              <a:solidFill>
                <a:schemeClr val="tx1"/>
              </a:solidFill>
            </a:endParaRPr>
          </a:p>
          <a:p>
            <a:r>
              <a:rPr lang="pt-BR" sz="3200" b="1" dirty="0" err="1">
                <a:solidFill>
                  <a:schemeClr val="tx1"/>
                </a:solidFill>
              </a:rPr>
              <a:t>objeto_proibido</a:t>
            </a:r>
            <a:r>
              <a:rPr lang="pt-BR" sz="3200" b="1" dirty="0">
                <a:solidFill>
                  <a:schemeClr val="tx1"/>
                </a:solidFill>
              </a:rPr>
              <a:t> = False</a:t>
            </a:r>
          </a:p>
          <a:p>
            <a:r>
              <a:rPr lang="pt-BR" sz="3200" b="1" dirty="0" err="1">
                <a:solidFill>
                  <a:schemeClr val="tx1"/>
                </a:solidFill>
              </a:rPr>
              <a:t>tem_visto</a:t>
            </a:r>
            <a:r>
              <a:rPr lang="pt-BR" sz="3200" b="1" dirty="0">
                <a:solidFill>
                  <a:schemeClr val="tx1"/>
                </a:solidFill>
              </a:rPr>
              <a:t> = False</a:t>
            </a:r>
          </a:p>
          <a:p>
            <a:r>
              <a:rPr lang="pt-BR" sz="3200" b="1" dirty="0" err="1">
                <a:solidFill>
                  <a:schemeClr val="tx1"/>
                </a:solidFill>
              </a:rPr>
              <a:t>eh_nativo</a:t>
            </a:r>
            <a:r>
              <a:rPr lang="pt-BR" sz="3200" b="1" dirty="0">
                <a:solidFill>
                  <a:schemeClr val="tx1"/>
                </a:solidFill>
              </a:rPr>
              <a:t> = </a:t>
            </a:r>
            <a:r>
              <a:rPr lang="pt-BR" sz="3200" b="1" dirty="0" err="1">
                <a:solidFill>
                  <a:schemeClr val="tx1"/>
                </a:solidFill>
              </a:rPr>
              <a:t>True</a:t>
            </a:r>
            <a:endParaRPr lang="pt-BR" sz="3200" b="1" dirty="0">
              <a:solidFill>
                <a:schemeClr val="tx1"/>
              </a:solidFill>
            </a:endParaRPr>
          </a:p>
          <a:p>
            <a:endParaRPr lang="pt-BR" sz="3200" b="1" dirty="0"/>
          </a:p>
          <a:p>
            <a:r>
              <a:rPr lang="pt-BR" sz="3200" b="1" dirty="0"/>
              <a:t># a lógica integrada usando parênteses para organizar a precedência</a:t>
            </a:r>
          </a:p>
          <a:p>
            <a:r>
              <a:rPr lang="pt-BR" sz="3200" b="1" dirty="0" err="1">
                <a:solidFill>
                  <a:schemeClr val="tx1"/>
                </a:solidFill>
              </a:rPr>
              <a:t>if</a:t>
            </a:r>
            <a:r>
              <a:rPr lang="pt-BR" sz="3200" b="1" dirty="0">
                <a:solidFill>
                  <a:schemeClr val="tx1"/>
                </a:solidFill>
              </a:rPr>
              <a:t> (</a:t>
            </a:r>
            <a:r>
              <a:rPr lang="pt-BR" sz="3200" b="1" dirty="0" err="1">
                <a:solidFill>
                  <a:schemeClr val="tx1"/>
                </a:solidFill>
              </a:rPr>
              <a:t>tem_passaporte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and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tem_passagem</a:t>
            </a:r>
            <a:r>
              <a:rPr lang="pt-BR" sz="3200" b="1" dirty="0">
                <a:solidFill>
                  <a:schemeClr val="tx1"/>
                </a:solidFill>
              </a:rPr>
              <a:t>) </a:t>
            </a:r>
            <a:r>
              <a:rPr lang="pt-BR" sz="3200" b="1" dirty="0" err="1">
                <a:solidFill>
                  <a:schemeClr val="tx1"/>
                </a:solidFill>
              </a:rPr>
              <a:t>and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not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objeto_proibido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and</a:t>
            </a:r>
            <a:r>
              <a:rPr lang="pt-BR" sz="3200" b="1" dirty="0">
                <a:solidFill>
                  <a:schemeClr val="tx1"/>
                </a:solidFill>
              </a:rPr>
              <a:t> (</a:t>
            </a:r>
            <a:r>
              <a:rPr lang="pt-BR" sz="3200" b="1" dirty="0" err="1">
                <a:solidFill>
                  <a:schemeClr val="tx1"/>
                </a:solidFill>
              </a:rPr>
              <a:t>tem_visto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or</a:t>
            </a:r>
            <a:r>
              <a:rPr lang="pt-BR" sz="3200" b="1" dirty="0">
                <a:solidFill>
                  <a:schemeClr val="tx1"/>
                </a:solidFill>
              </a:rPr>
              <a:t> </a:t>
            </a:r>
            <a:r>
              <a:rPr lang="pt-BR" sz="3200" b="1" dirty="0" err="1">
                <a:solidFill>
                  <a:schemeClr val="tx1"/>
                </a:solidFill>
              </a:rPr>
              <a:t>eh_nativo</a:t>
            </a:r>
            <a:r>
              <a:rPr lang="pt-BR" sz="3200" b="1" dirty="0">
                <a:solidFill>
                  <a:schemeClr val="tx1"/>
                </a:solidFill>
              </a:rPr>
              <a:t>):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    print("embarque autorizado.")</a:t>
            </a:r>
          </a:p>
          <a:p>
            <a:r>
              <a:rPr lang="pt-BR" sz="3200" b="1" dirty="0" err="1">
                <a:solidFill>
                  <a:schemeClr val="tx1"/>
                </a:solidFill>
              </a:rPr>
              <a:t>else</a:t>
            </a:r>
            <a:r>
              <a:rPr lang="pt-BR" sz="3200" b="1" dirty="0">
                <a:solidFill>
                  <a:schemeClr val="tx1"/>
                </a:solidFill>
              </a:rPr>
              <a:t>:</a:t>
            </a:r>
          </a:p>
          <a:p>
            <a:r>
              <a:rPr lang="pt-BR" sz="3200" b="1" dirty="0">
                <a:solidFill>
                  <a:schemeClr val="tx1"/>
                </a:solidFill>
              </a:rPr>
              <a:t>    print("embarque negado. procure a polícia federal.")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B84A4F-C8EB-6C90-5DF7-7B83782A5177}"/>
              </a:ext>
            </a:extLst>
          </p:cNvPr>
          <p:cNvSpPr txBox="1"/>
          <p:nvPr/>
        </p:nvSpPr>
        <p:spPr>
          <a:xfrm>
            <a:off x="7882665" y="1625455"/>
            <a:ext cx="3071309" cy="76944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4400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830306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A5EF-02B7-155D-9915-16F79D97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E5FE1-3C5B-C8D9-8F32-08393135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7EC9E3-E5C9-A318-8EC1-EB58D224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5982" y="1043492"/>
            <a:ext cx="7519595" cy="5698863"/>
          </a:xfrm>
        </p:spPr>
        <p:txBody>
          <a:bodyPr anchor="ctr">
            <a:normAutofit fontScale="25000" lnSpcReduction="20000"/>
          </a:bodyPr>
          <a:lstStyle/>
          <a:p>
            <a:r>
              <a:rPr lang="pt-BR" sz="4800" b="1" dirty="0" err="1">
                <a:solidFill>
                  <a:schemeClr val="tx1"/>
                </a:solidFill>
              </a:rPr>
              <a:t>public</a:t>
            </a:r>
            <a:r>
              <a:rPr lang="pt-BR" sz="4800" b="1" dirty="0">
                <a:solidFill>
                  <a:schemeClr val="tx1"/>
                </a:solidFill>
              </a:rPr>
              <a:t> </a:t>
            </a:r>
            <a:r>
              <a:rPr lang="pt-BR" sz="4800" b="1" dirty="0" err="1">
                <a:solidFill>
                  <a:schemeClr val="tx1"/>
                </a:solidFill>
              </a:rPr>
              <a:t>class</a:t>
            </a:r>
            <a:r>
              <a:rPr lang="pt-BR" sz="4800" b="1" dirty="0">
                <a:solidFill>
                  <a:schemeClr val="tx1"/>
                </a:solidFill>
              </a:rPr>
              <a:t> Embarque {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</a:t>
            </a:r>
            <a:r>
              <a:rPr lang="pt-BR" sz="4800" b="1" dirty="0" err="1">
                <a:solidFill>
                  <a:schemeClr val="tx1"/>
                </a:solidFill>
              </a:rPr>
              <a:t>public</a:t>
            </a:r>
            <a:r>
              <a:rPr lang="pt-BR" sz="4800" b="1" dirty="0">
                <a:solidFill>
                  <a:schemeClr val="tx1"/>
                </a:solidFill>
              </a:rPr>
              <a:t> </a:t>
            </a:r>
            <a:r>
              <a:rPr lang="pt-BR" sz="4800" b="1" dirty="0" err="1">
                <a:solidFill>
                  <a:schemeClr val="tx1"/>
                </a:solidFill>
              </a:rPr>
              <a:t>static</a:t>
            </a:r>
            <a:r>
              <a:rPr lang="pt-BR" sz="4800" b="1" dirty="0">
                <a:solidFill>
                  <a:schemeClr val="tx1"/>
                </a:solidFill>
              </a:rPr>
              <a:t> </a:t>
            </a:r>
            <a:r>
              <a:rPr lang="pt-BR" sz="4800" b="1" dirty="0" err="1">
                <a:solidFill>
                  <a:schemeClr val="tx1"/>
                </a:solidFill>
              </a:rPr>
              <a:t>void</a:t>
            </a:r>
            <a:r>
              <a:rPr lang="pt-BR" sz="4800" b="1" dirty="0">
                <a:solidFill>
                  <a:schemeClr val="tx1"/>
                </a:solidFill>
              </a:rPr>
              <a:t> </a:t>
            </a:r>
            <a:r>
              <a:rPr lang="pt-BR" sz="4800" b="1" dirty="0" err="1">
                <a:solidFill>
                  <a:schemeClr val="tx1"/>
                </a:solidFill>
              </a:rPr>
              <a:t>main</a:t>
            </a:r>
            <a:r>
              <a:rPr lang="pt-BR" sz="4800" b="1" dirty="0">
                <a:solidFill>
                  <a:schemeClr val="tx1"/>
                </a:solidFill>
              </a:rPr>
              <a:t>(</a:t>
            </a:r>
            <a:r>
              <a:rPr lang="pt-BR" sz="4800" b="1" dirty="0" err="1">
                <a:solidFill>
                  <a:schemeClr val="tx1"/>
                </a:solidFill>
              </a:rPr>
              <a:t>String</a:t>
            </a:r>
            <a:r>
              <a:rPr lang="pt-BR" sz="4800" b="1" dirty="0">
                <a:solidFill>
                  <a:schemeClr val="tx1"/>
                </a:solidFill>
              </a:rPr>
              <a:t>[] </a:t>
            </a:r>
            <a:r>
              <a:rPr lang="pt-BR" sz="4800" b="1" dirty="0" err="1">
                <a:solidFill>
                  <a:schemeClr val="tx1"/>
                </a:solidFill>
              </a:rPr>
              <a:t>args</a:t>
            </a:r>
            <a:r>
              <a:rPr lang="pt-BR" sz="4800" b="1" dirty="0">
                <a:solidFill>
                  <a:schemeClr val="tx1"/>
                </a:solidFill>
              </a:rPr>
              <a:t>) {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</a:t>
            </a:r>
            <a:r>
              <a:rPr lang="pt-BR" sz="4800" b="1" dirty="0" err="1">
                <a:solidFill>
                  <a:schemeClr val="tx1"/>
                </a:solidFill>
              </a:rPr>
              <a:t>boolean</a:t>
            </a:r>
            <a:r>
              <a:rPr lang="pt-BR" sz="4800" b="1" dirty="0">
                <a:solidFill>
                  <a:schemeClr val="tx1"/>
                </a:solidFill>
              </a:rPr>
              <a:t> </a:t>
            </a:r>
            <a:r>
              <a:rPr lang="pt-BR" sz="4800" b="1" dirty="0" err="1">
                <a:solidFill>
                  <a:schemeClr val="tx1"/>
                </a:solidFill>
              </a:rPr>
              <a:t>temPassaporte</a:t>
            </a:r>
            <a:r>
              <a:rPr lang="pt-BR" sz="4800" b="1" dirty="0">
                <a:solidFill>
                  <a:schemeClr val="tx1"/>
                </a:solidFill>
              </a:rPr>
              <a:t> = </a:t>
            </a:r>
            <a:r>
              <a:rPr lang="pt-BR" sz="4800" b="1" dirty="0" err="1">
                <a:solidFill>
                  <a:schemeClr val="tx1"/>
                </a:solidFill>
              </a:rPr>
              <a:t>true</a:t>
            </a:r>
            <a:r>
              <a:rPr lang="pt-BR" sz="4800" b="1" dirty="0">
                <a:solidFill>
                  <a:schemeClr val="tx1"/>
                </a:solidFill>
              </a:rPr>
              <a:t>;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</a:t>
            </a:r>
            <a:r>
              <a:rPr lang="pt-BR" sz="4800" b="1" dirty="0" err="1">
                <a:solidFill>
                  <a:schemeClr val="tx1"/>
                </a:solidFill>
              </a:rPr>
              <a:t>boolean</a:t>
            </a:r>
            <a:r>
              <a:rPr lang="pt-BR" sz="4800" b="1" dirty="0">
                <a:solidFill>
                  <a:schemeClr val="tx1"/>
                </a:solidFill>
              </a:rPr>
              <a:t> </a:t>
            </a:r>
            <a:r>
              <a:rPr lang="pt-BR" sz="4800" b="1" dirty="0" err="1">
                <a:solidFill>
                  <a:schemeClr val="tx1"/>
                </a:solidFill>
              </a:rPr>
              <a:t>temPassagem</a:t>
            </a:r>
            <a:r>
              <a:rPr lang="pt-BR" sz="4800" b="1" dirty="0">
                <a:solidFill>
                  <a:schemeClr val="tx1"/>
                </a:solidFill>
              </a:rPr>
              <a:t> = </a:t>
            </a:r>
            <a:r>
              <a:rPr lang="pt-BR" sz="4800" b="1" dirty="0" err="1">
                <a:solidFill>
                  <a:schemeClr val="tx1"/>
                </a:solidFill>
              </a:rPr>
              <a:t>true</a:t>
            </a:r>
            <a:r>
              <a:rPr lang="pt-BR" sz="4800" b="1" dirty="0">
                <a:solidFill>
                  <a:schemeClr val="tx1"/>
                </a:solidFill>
              </a:rPr>
              <a:t>;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</a:t>
            </a:r>
            <a:r>
              <a:rPr lang="pt-BR" sz="4800" b="1" dirty="0" err="1">
                <a:solidFill>
                  <a:schemeClr val="tx1"/>
                </a:solidFill>
              </a:rPr>
              <a:t>boolean</a:t>
            </a:r>
            <a:r>
              <a:rPr lang="pt-BR" sz="4800" b="1" dirty="0">
                <a:solidFill>
                  <a:schemeClr val="tx1"/>
                </a:solidFill>
              </a:rPr>
              <a:t> </a:t>
            </a:r>
            <a:r>
              <a:rPr lang="pt-BR" sz="4800" b="1" dirty="0" err="1">
                <a:solidFill>
                  <a:schemeClr val="tx1"/>
                </a:solidFill>
              </a:rPr>
              <a:t>objetoProibido</a:t>
            </a:r>
            <a:r>
              <a:rPr lang="pt-BR" sz="4800" b="1" dirty="0">
                <a:solidFill>
                  <a:schemeClr val="tx1"/>
                </a:solidFill>
              </a:rPr>
              <a:t> = false;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</a:t>
            </a:r>
            <a:r>
              <a:rPr lang="pt-BR" sz="4800" b="1" dirty="0" err="1">
                <a:solidFill>
                  <a:schemeClr val="tx1"/>
                </a:solidFill>
              </a:rPr>
              <a:t>boolean</a:t>
            </a:r>
            <a:r>
              <a:rPr lang="pt-BR" sz="4800" b="1" dirty="0">
                <a:solidFill>
                  <a:schemeClr val="tx1"/>
                </a:solidFill>
              </a:rPr>
              <a:t> </a:t>
            </a:r>
            <a:r>
              <a:rPr lang="pt-BR" sz="4800" b="1" dirty="0" err="1">
                <a:solidFill>
                  <a:schemeClr val="tx1"/>
                </a:solidFill>
              </a:rPr>
              <a:t>temVisto</a:t>
            </a:r>
            <a:r>
              <a:rPr lang="pt-BR" sz="4800" b="1" dirty="0">
                <a:solidFill>
                  <a:schemeClr val="tx1"/>
                </a:solidFill>
              </a:rPr>
              <a:t> = false;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</a:t>
            </a:r>
            <a:r>
              <a:rPr lang="pt-BR" sz="4800" b="1" dirty="0" err="1">
                <a:solidFill>
                  <a:schemeClr val="tx1"/>
                </a:solidFill>
              </a:rPr>
              <a:t>boolean</a:t>
            </a:r>
            <a:r>
              <a:rPr lang="pt-BR" sz="4800" b="1" dirty="0">
                <a:solidFill>
                  <a:schemeClr val="tx1"/>
                </a:solidFill>
              </a:rPr>
              <a:t> </a:t>
            </a:r>
            <a:r>
              <a:rPr lang="pt-BR" sz="4800" b="1" dirty="0" err="1">
                <a:solidFill>
                  <a:schemeClr val="tx1"/>
                </a:solidFill>
              </a:rPr>
              <a:t>ehNativo</a:t>
            </a:r>
            <a:r>
              <a:rPr lang="pt-BR" sz="4800" b="1" dirty="0">
                <a:solidFill>
                  <a:schemeClr val="tx1"/>
                </a:solidFill>
              </a:rPr>
              <a:t> = </a:t>
            </a:r>
            <a:r>
              <a:rPr lang="pt-BR" sz="4800" b="1" dirty="0" err="1">
                <a:solidFill>
                  <a:schemeClr val="tx1"/>
                </a:solidFill>
              </a:rPr>
              <a:t>true</a:t>
            </a:r>
            <a:r>
              <a:rPr lang="pt-BR" sz="4800" b="1" dirty="0">
                <a:solidFill>
                  <a:schemeClr val="tx1"/>
                </a:solidFill>
              </a:rPr>
              <a:t>;</a:t>
            </a:r>
          </a:p>
          <a:p>
            <a:endParaRPr lang="pt-BR" sz="4800" b="1" dirty="0">
              <a:solidFill>
                <a:schemeClr val="tx1"/>
              </a:solidFill>
            </a:endParaRPr>
          </a:p>
          <a:p>
            <a:r>
              <a:rPr lang="pt-BR" sz="4800" b="1" dirty="0"/>
              <a:t>        // em </a:t>
            </a:r>
            <a:r>
              <a:rPr lang="pt-BR" sz="4800" b="1" dirty="0" err="1"/>
              <a:t>java</a:t>
            </a:r>
            <a:r>
              <a:rPr lang="pt-BR" sz="4800" b="1" dirty="0"/>
              <a:t>, o uso de &amp;&amp;, ! e || é obrigatório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</a:t>
            </a:r>
            <a:r>
              <a:rPr lang="pt-BR" sz="4800" b="1" dirty="0" err="1">
                <a:solidFill>
                  <a:schemeClr val="tx1"/>
                </a:solidFill>
              </a:rPr>
              <a:t>if</a:t>
            </a:r>
            <a:r>
              <a:rPr lang="pt-BR" sz="4800" b="1" dirty="0">
                <a:solidFill>
                  <a:schemeClr val="tx1"/>
                </a:solidFill>
              </a:rPr>
              <a:t> ((</a:t>
            </a:r>
            <a:r>
              <a:rPr lang="pt-BR" sz="4800" b="1" dirty="0" err="1">
                <a:solidFill>
                  <a:schemeClr val="tx1"/>
                </a:solidFill>
              </a:rPr>
              <a:t>temPassaporte</a:t>
            </a:r>
            <a:r>
              <a:rPr lang="pt-BR" sz="4800" b="1" dirty="0">
                <a:solidFill>
                  <a:schemeClr val="tx1"/>
                </a:solidFill>
              </a:rPr>
              <a:t> &amp;&amp; </a:t>
            </a:r>
            <a:r>
              <a:rPr lang="pt-BR" sz="4800" b="1" dirty="0" err="1">
                <a:solidFill>
                  <a:schemeClr val="tx1"/>
                </a:solidFill>
              </a:rPr>
              <a:t>temPassagem</a:t>
            </a:r>
            <a:r>
              <a:rPr lang="pt-BR" sz="4800" b="1" dirty="0">
                <a:solidFill>
                  <a:schemeClr val="tx1"/>
                </a:solidFill>
              </a:rPr>
              <a:t>) &amp;&amp; !</a:t>
            </a:r>
            <a:r>
              <a:rPr lang="pt-BR" sz="4800" b="1" dirty="0" err="1">
                <a:solidFill>
                  <a:schemeClr val="tx1"/>
                </a:solidFill>
              </a:rPr>
              <a:t>objetoProibido</a:t>
            </a:r>
            <a:r>
              <a:rPr lang="pt-BR" sz="4800" b="1" dirty="0">
                <a:solidFill>
                  <a:schemeClr val="tx1"/>
                </a:solidFill>
              </a:rPr>
              <a:t> &amp;&amp; (</a:t>
            </a:r>
            <a:r>
              <a:rPr lang="pt-BR" sz="4800" b="1" dirty="0" err="1">
                <a:solidFill>
                  <a:schemeClr val="tx1"/>
                </a:solidFill>
              </a:rPr>
              <a:t>temVisto</a:t>
            </a:r>
            <a:r>
              <a:rPr lang="pt-BR" sz="4800" b="1" dirty="0">
                <a:solidFill>
                  <a:schemeClr val="tx1"/>
                </a:solidFill>
              </a:rPr>
              <a:t> || </a:t>
            </a:r>
            <a:r>
              <a:rPr lang="pt-BR" sz="4800" b="1" dirty="0" err="1">
                <a:solidFill>
                  <a:schemeClr val="tx1"/>
                </a:solidFill>
              </a:rPr>
              <a:t>ehNativo</a:t>
            </a:r>
            <a:r>
              <a:rPr lang="pt-BR" sz="4800" b="1" dirty="0">
                <a:solidFill>
                  <a:schemeClr val="tx1"/>
                </a:solidFill>
              </a:rPr>
              <a:t>)) {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    </a:t>
            </a:r>
            <a:r>
              <a:rPr lang="pt-BR" sz="4800" b="1" dirty="0" err="1">
                <a:solidFill>
                  <a:schemeClr val="tx1"/>
                </a:solidFill>
              </a:rPr>
              <a:t>System.out.println</a:t>
            </a:r>
            <a:r>
              <a:rPr lang="pt-BR" sz="4800" b="1" dirty="0">
                <a:solidFill>
                  <a:schemeClr val="tx1"/>
                </a:solidFill>
              </a:rPr>
              <a:t>("embarque autorizado.");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} </a:t>
            </a:r>
            <a:r>
              <a:rPr lang="pt-BR" sz="4800" b="1" dirty="0" err="1">
                <a:solidFill>
                  <a:schemeClr val="tx1"/>
                </a:solidFill>
              </a:rPr>
              <a:t>else</a:t>
            </a:r>
            <a:r>
              <a:rPr lang="pt-BR" sz="4800" b="1" dirty="0">
                <a:solidFill>
                  <a:schemeClr val="tx1"/>
                </a:solidFill>
              </a:rPr>
              <a:t> {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    </a:t>
            </a:r>
            <a:r>
              <a:rPr lang="pt-BR" sz="4800" b="1" dirty="0" err="1">
                <a:solidFill>
                  <a:schemeClr val="tx1"/>
                </a:solidFill>
              </a:rPr>
              <a:t>System.out.println</a:t>
            </a:r>
            <a:r>
              <a:rPr lang="pt-BR" sz="4800" b="1" dirty="0">
                <a:solidFill>
                  <a:schemeClr val="tx1"/>
                </a:solidFill>
              </a:rPr>
              <a:t>("embarque negado. procure a polícia federal.");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    }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    }</a:t>
            </a:r>
          </a:p>
          <a:p>
            <a:r>
              <a:rPr lang="pt-BR" sz="4800" b="1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3F689D6-A347-1E42-8138-8F45DB121308}"/>
              </a:ext>
            </a:extLst>
          </p:cNvPr>
          <p:cNvSpPr txBox="1"/>
          <p:nvPr/>
        </p:nvSpPr>
        <p:spPr>
          <a:xfrm>
            <a:off x="7860363" y="1713020"/>
            <a:ext cx="3071309" cy="76944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4400" dirty="0"/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288676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33EC9-BE99-D73B-C5EA-E38A3C9DA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E2F86-5CAF-D819-0DFE-FE77144AE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B23878-D92A-006E-E8D8-4A489551C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5982" y="1043492"/>
            <a:ext cx="7519595" cy="5698863"/>
          </a:xfrm>
        </p:spPr>
        <p:txBody>
          <a:bodyPr anchor="ctr">
            <a:normAutofit fontScale="40000" lnSpcReduction="20000"/>
          </a:bodyPr>
          <a:lstStyle/>
          <a:p>
            <a:pPr algn="ctr"/>
            <a:r>
              <a:rPr lang="pt-BR" sz="6000" b="1" dirty="0"/>
              <a:t>fundamentos e ordem de precedência</a:t>
            </a:r>
          </a:p>
          <a:p>
            <a:endParaRPr lang="pt-BR" sz="6000" b="1" dirty="0"/>
          </a:p>
          <a:p>
            <a:pPr algn="ctr"/>
            <a:r>
              <a:rPr lang="pt-BR" sz="6000" b="1" dirty="0">
                <a:solidFill>
                  <a:schemeClr val="tx1"/>
                </a:solidFill>
              </a:rPr>
              <a:t>Para não se perder em expressões longas, memorize a hierarquia de execução (quem o computador resolve primeiro):</a:t>
            </a:r>
          </a:p>
          <a:p>
            <a:endParaRPr lang="pt-BR" sz="4800" b="1" dirty="0">
              <a:solidFill>
                <a:schemeClr val="tx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tx1"/>
                </a:solidFill>
              </a:rPr>
              <a:t>parênteses </a:t>
            </a:r>
            <a:r>
              <a:rPr lang="pt-BR" sz="4800" b="1" dirty="0"/>
              <a:t>( ) </a:t>
            </a:r>
            <a:r>
              <a:rPr lang="pt-BR" sz="4800" b="1" dirty="0">
                <a:solidFill>
                  <a:schemeClr val="tx1"/>
                </a:solidFill>
              </a:rPr>
              <a:t>: sempre têm a prioridade máxima.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tx1"/>
                </a:solidFill>
              </a:rPr>
              <a:t>Negação </a:t>
            </a:r>
            <a:r>
              <a:rPr lang="pt-BR" sz="4800" b="1" dirty="0" err="1"/>
              <a:t>not</a:t>
            </a:r>
            <a:r>
              <a:rPr lang="pt-BR" sz="4800" b="1" dirty="0"/>
              <a:t> / ! </a:t>
            </a:r>
            <a:r>
              <a:rPr lang="pt-BR" sz="4800" b="1" dirty="0">
                <a:solidFill>
                  <a:schemeClr val="tx1"/>
                </a:solidFill>
              </a:rPr>
              <a:t>: inverte os valores antes de comparar.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tx1"/>
                </a:solidFill>
              </a:rPr>
              <a:t>conjunção </a:t>
            </a:r>
            <a:r>
              <a:rPr lang="pt-BR" sz="4800" b="1" dirty="0" err="1"/>
              <a:t>and</a:t>
            </a:r>
            <a:r>
              <a:rPr lang="pt-BR" sz="4800" b="1" dirty="0"/>
              <a:t> / &amp;&amp; </a:t>
            </a:r>
            <a:r>
              <a:rPr lang="pt-BR" sz="4800" b="1" dirty="0">
                <a:solidFill>
                  <a:schemeClr val="tx1"/>
                </a:solidFill>
              </a:rPr>
              <a:t>: resolvida antes da disjunção.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tx1"/>
                </a:solidFill>
              </a:rPr>
              <a:t>disjunção </a:t>
            </a:r>
            <a:r>
              <a:rPr lang="pt-BR" sz="4800" b="1" dirty="0" err="1"/>
              <a:t>or</a:t>
            </a:r>
            <a:r>
              <a:rPr lang="pt-BR" sz="4800" b="1" dirty="0"/>
              <a:t> / ||</a:t>
            </a:r>
            <a:r>
              <a:rPr lang="pt-BR" sz="4800" b="1" dirty="0">
                <a:solidFill>
                  <a:schemeClr val="tx1"/>
                </a:solidFill>
              </a:rPr>
              <a:t> : é a última a ser processada.</a:t>
            </a:r>
          </a:p>
        </p:txBody>
      </p:sp>
    </p:spTree>
    <p:extLst>
      <p:ext uri="{BB962C8B-B14F-4D97-AF65-F5344CB8AC3E}">
        <p14:creationId xmlns:p14="http://schemas.microsoft.com/office/powerpoint/2010/main" val="1735894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0FD73-97AF-B450-2803-F58895AB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50A6F-E9D8-BAC6-CCED-CF6D80E34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299DA3-5080-CCCF-ABF5-EE6CC2563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5925" y="1882587"/>
            <a:ext cx="8052099" cy="3496237"/>
          </a:xfrm>
        </p:spPr>
        <p:txBody>
          <a:bodyPr anchor="ctr">
            <a:normAutofit/>
          </a:bodyPr>
          <a:lstStyle/>
          <a:p>
            <a:pPr algn="ctr"/>
            <a:r>
              <a:rPr lang="pt-BR" sz="6000" b="1" dirty="0">
                <a:solidFill>
                  <a:schemeClr val="tx1"/>
                </a:solidFill>
              </a:rPr>
              <a:t>EXEMPLO DA</a:t>
            </a:r>
          </a:p>
          <a:p>
            <a:pPr algn="ctr"/>
            <a:r>
              <a:rPr lang="pt-BR" sz="6000" b="1" dirty="0">
                <a:solidFill>
                  <a:schemeClr val="tx1"/>
                </a:solidFill>
              </a:rPr>
              <a:t>TABELA-VERDADE</a:t>
            </a:r>
          </a:p>
        </p:txBody>
      </p:sp>
    </p:spTree>
    <p:extLst>
      <p:ext uri="{BB962C8B-B14F-4D97-AF65-F5344CB8AC3E}">
        <p14:creationId xmlns:p14="http://schemas.microsoft.com/office/powerpoint/2010/main" val="3158280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3FF6-C5AD-E83F-072E-E0691CE7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073F5-8B68-2C95-EC87-BCB571208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58791C-470C-A667-E717-E31D87CCD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3355" y="1489931"/>
            <a:ext cx="6395421" cy="4163211"/>
          </a:xfrm>
        </p:spPr>
        <p:txBody>
          <a:bodyPr anchor="ctr">
            <a:normAutofit/>
          </a:bodyPr>
          <a:lstStyle/>
          <a:p>
            <a:pPr algn="ctr"/>
            <a:r>
              <a:rPr lang="pt-BR" sz="4800" b="1" dirty="0"/>
              <a:t>PARTE 2</a:t>
            </a:r>
          </a:p>
          <a:p>
            <a:pPr algn="ctr"/>
            <a:r>
              <a:rPr lang="pt-BR" sz="4800" b="1" dirty="0"/>
              <a:t>fluxograma convencional</a:t>
            </a:r>
          </a:p>
          <a:p>
            <a:pPr algn="ctr"/>
            <a:r>
              <a:rPr lang="pt-BR" sz="4800" b="1" dirty="0"/>
              <a:t>(modelagem visual)</a:t>
            </a:r>
          </a:p>
        </p:txBody>
      </p:sp>
    </p:spTree>
    <p:extLst>
      <p:ext uri="{BB962C8B-B14F-4D97-AF65-F5344CB8AC3E}">
        <p14:creationId xmlns:p14="http://schemas.microsoft.com/office/powerpoint/2010/main" val="4209278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D5CFE-1003-576E-5355-EB576B26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1DB29-EA2B-38F8-7C7A-3CEFE15DC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F412CB-F506-A1FD-FB24-3D457DD6B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/>
          </a:bodyPr>
          <a:lstStyle/>
          <a:p>
            <a:pPr algn="ctr"/>
            <a:r>
              <a:rPr lang="pt-BR" sz="3000" b="1" dirty="0"/>
              <a:t>fundamentos e história</a:t>
            </a:r>
          </a:p>
          <a:p>
            <a:pPr algn="ctr"/>
            <a:endParaRPr lang="pt-BR" sz="3000" b="1" dirty="0"/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O fluxograma é uma linguagem universal de símbolos. Foi introduzido por Frank </a:t>
            </a:r>
            <a:r>
              <a:rPr lang="pt-BR" sz="3000" b="1" dirty="0" err="1">
                <a:solidFill>
                  <a:schemeClr val="tx1"/>
                </a:solidFill>
              </a:rPr>
              <a:t>Gilbreth</a:t>
            </a:r>
            <a:r>
              <a:rPr lang="pt-BR" sz="3000" b="1" dirty="0">
                <a:solidFill>
                  <a:schemeClr val="tx1"/>
                </a:solidFill>
              </a:rPr>
              <a:t> em 1921 para processos de engenharia industrial. Na computação, foi a primeira forma de "código visual" antes das linguagens modernas. Como diz a norma ISO 5807, o objetivo é a documentação clara de processos.</a:t>
            </a:r>
          </a:p>
        </p:txBody>
      </p:sp>
    </p:spTree>
    <p:extLst>
      <p:ext uri="{BB962C8B-B14F-4D97-AF65-F5344CB8AC3E}">
        <p14:creationId xmlns:p14="http://schemas.microsoft.com/office/powerpoint/2010/main" val="1936539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43BF-BEE5-2742-6D1B-6AC25176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D74E0-C6D1-1E48-4C51-72F5BFBBB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1E7688-C4A3-E8A2-2167-A5E18C968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743" y="968189"/>
            <a:ext cx="9515925" cy="5626250"/>
          </a:xfrm>
        </p:spPr>
        <p:txBody>
          <a:bodyPr anchor="ctr">
            <a:normAutofit/>
          </a:bodyPr>
          <a:lstStyle/>
          <a:p>
            <a:pPr algn="ctr"/>
            <a:r>
              <a:rPr lang="pt-BR" sz="3000" b="1" dirty="0"/>
              <a:t>estrutura lógica (padrões </a:t>
            </a:r>
            <a:r>
              <a:rPr lang="pt-BR" sz="3000" b="1" dirty="0" err="1"/>
              <a:t>ansi</a:t>
            </a:r>
            <a:r>
              <a:rPr lang="pt-BR" sz="3000" b="1" dirty="0"/>
              <a:t>/</a:t>
            </a:r>
            <a:r>
              <a:rPr lang="pt-BR" sz="3000" b="1" dirty="0" err="1"/>
              <a:t>iso</a:t>
            </a:r>
            <a:r>
              <a:rPr lang="pt-BR" sz="3000" b="1" dirty="0"/>
              <a:t>)</a:t>
            </a:r>
          </a:p>
          <a:p>
            <a:pPr algn="ctr"/>
            <a:endParaRPr lang="pt-BR" sz="3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tx1"/>
                </a:solidFill>
              </a:rPr>
              <a:t>elipse: início e fim (terminais).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tx1"/>
                </a:solidFill>
              </a:rPr>
              <a:t>retângulo: processamento (ações, cálculos).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tx1"/>
                </a:solidFill>
              </a:rPr>
              <a:t>losango: decisão (pergunta booleana que bifurca o fluxo).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chemeClr val="tx1"/>
                </a:solidFill>
              </a:rPr>
              <a:t>paralelogramo: entrada e saída de dados.</a:t>
            </a:r>
          </a:p>
        </p:txBody>
      </p:sp>
    </p:spTree>
    <p:extLst>
      <p:ext uri="{BB962C8B-B14F-4D97-AF65-F5344CB8AC3E}">
        <p14:creationId xmlns:p14="http://schemas.microsoft.com/office/powerpoint/2010/main" val="2393291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94AA-A342-0407-D503-A8357733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8ADBF-CBD6-99FE-62EC-3FAD2C159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EB5BF3-D0BE-117A-A377-44DA07631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7590" y="1376978"/>
            <a:ext cx="9117106" cy="4883973"/>
          </a:xfrm>
        </p:spPr>
        <p:txBody>
          <a:bodyPr anchor="ctr">
            <a:normAutofit fontScale="77500" lnSpcReduction="20000"/>
          </a:bodyPr>
          <a:lstStyle/>
          <a:p>
            <a:pPr algn="ctr"/>
            <a:r>
              <a:rPr lang="pt-BR" sz="3000" b="1" dirty="0"/>
              <a:t>aplicações e dia a dia</a:t>
            </a:r>
          </a:p>
          <a:p>
            <a:pPr algn="ctr"/>
            <a:endParaRPr lang="pt-BR" sz="3000" b="1" dirty="0"/>
          </a:p>
          <a:p>
            <a:r>
              <a:rPr lang="pt-BR" sz="3000" b="1" dirty="0"/>
              <a:t>dia a dia: </a:t>
            </a:r>
            <a:r>
              <a:rPr lang="pt-BR" sz="3000" b="1" dirty="0">
                <a:solidFill>
                  <a:schemeClr val="tx1"/>
                </a:solidFill>
              </a:rPr>
              <a:t>manuais de instrução de eletrodomésticos ("se a luz piscar, faça x").</a:t>
            </a:r>
          </a:p>
          <a:p>
            <a:endParaRPr lang="pt-BR" sz="3000" b="1" dirty="0">
              <a:solidFill>
                <a:schemeClr val="tx1"/>
              </a:solidFill>
            </a:endParaRPr>
          </a:p>
          <a:p>
            <a:r>
              <a:rPr lang="pt-BR" sz="3000" b="1" dirty="0"/>
              <a:t>aplicação técnica: </a:t>
            </a:r>
            <a:r>
              <a:rPr lang="pt-BR" sz="3000" b="1" dirty="0">
                <a:solidFill>
                  <a:schemeClr val="tx1"/>
                </a:solidFill>
              </a:rPr>
              <a:t>design de protocolos de rede e segurança cibernética, onde cada tentativa de acesso passa por um nó de decisão.</a:t>
            </a:r>
          </a:p>
          <a:p>
            <a:endParaRPr lang="pt-BR" sz="3000" b="1" dirty="0"/>
          </a:p>
          <a:p>
            <a:r>
              <a:rPr lang="pt-BR" sz="3000" b="1" dirty="0"/>
              <a:t>base de estudo: </a:t>
            </a:r>
            <a:r>
              <a:rPr lang="pt-BR" sz="3000" b="1" dirty="0">
                <a:solidFill>
                  <a:schemeClr val="tx1"/>
                </a:solidFill>
              </a:rPr>
              <a:t>o aluno deve praticar a decomposição de tarefas simples (</a:t>
            </a:r>
            <a:r>
              <a:rPr lang="pt-BR" sz="3000" b="1" dirty="0" err="1">
                <a:solidFill>
                  <a:schemeClr val="tx1"/>
                </a:solidFill>
              </a:rPr>
              <a:t>ex</a:t>
            </a:r>
            <a:r>
              <a:rPr lang="pt-BR" sz="3000" b="1" dirty="0">
                <a:solidFill>
                  <a:schemeClr val="tx1"/>
                </a:solidFill>
              </a:rPr>
              <a:t>: fazer café) em símbolos gráficos.</a:t>
            </a:r>
          </a:p>
        </p:txBody>
      </p:sp>
    </p:spTree>
    <p:extLst>
      <p:ext uri="{BB962C8B-B14F-4D97-AF65-F5344CB8AC3E}">
        <p14:creationId xmlns:p14="http://schemas.microsoft.com/office/powerpoint/2010/main" val="9971888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2C44-ECB8-FA94-0EAD-BC54045E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0255F-5560-2770-02B3-70FD5CD3B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B419BAC1-4F80-AEF9-C9A5-18350BCE8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474380"/>
              </p:ext>
            </p:extLst>
          </p:nvPr>
        </p:nvGraphicFramePr>
        <p:xfrm>
          <a:off x="1442627" y="1438508"/>
          <a:ext cx="10064565" cy="46503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354855">
                  <a:extLst>
                    <a:ext uri="{9D8B030D-6E8A-4147-A177-3AD203B41FA5}">
                      <a16:colId xmlns:a16="http://schemas.microsoft.com/office/drawing/2014/main" val="1024268037"/>
                    </a:ext>
                  </a:extLst>
                </a:gridCol>
                <a:gridCol w="3354855">
                  <a:extLst>
                    <a:ext uri="{9D8B030D-6E8A-4147-A177-3AD203B41FA5}">
                      <a16:colId xmlns:a16="http://schemas.microsoft.com/office/drawing/2014/main" val="2208873966"/>
                    </a:ext>
                  </a:extLst>
                </a:gridCol>
                <a:gridCol w="3354855">
                  <a:extLst>
                    <a:ext uri="{9D8B030D-6E8A-4147-A177-3AD203B41FA5}">
                      <a16:colId xmlns:a16="http://schemas.microsoft.com/office/drawing/2014/main" val="4085926246"/>
                    </a:ext>
                  </a:extLst>
                </a:gridCol>
              </a:tblGrid>
              <a:tr h="930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ELEMENTO DO FLUXOGRAMA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ELEMENTO NO PSEUDOCÓDIGO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CONCEITO TÉCNICO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013808"/>
                  </a:ext>
                </a:extLst>
              </a:tr>
              <a:tr h="930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elipse (terminal)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início / fim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solidFill>
                            <a:schemeClr val="bg2"/>
                          </a:solidFill>
                          <a:effectLst/>
                        </a:rPr>
                        <a:t>delimitação de escopo.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602427"/>
                  </a:ext>
                </a:extLst>
              </a:tr>
              <a:tr h="930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chemeClr val="bg2"/>
                          </a:solidFill>
                          <a:effectLst/>
                        </a:rPr>
                        <a:t>losango (decisão)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se...então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solidFill>
                            <a:schemeClr val="bg2"/>
                          </a:solidFill>
                          <a:effectLst/>
                        </a:rPr>
                        <a:t>desvio condicional (if).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335293"/>
                  </a:ext>
                </a:extLst>
              </a:tr>
              <a:tr h="930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>
                          <a:solidFill>
                            <a:schemeClr val="bg2"/>
                          </a:solidFill>
                          <a:effectLst/>
                        </a:rPr>
                        <a:t>seta de retorno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repita...até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laço de repetição (loop).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097820"/>
                  </a:ext>
                </a:extLst>
              </a:tr>
              <a:tr h="9300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solidFill>
                            <a:schemeClr val="bg2"/>
                          </a:solidFill>
                          <a:effectLst/>
                        </a:rPr>
                        <a:t>paralelogramo (e/s)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>
                          <a:solidFill>
                            <a:schemeClr val="bg2"/>
                          </a:solidFill>
                          <a:effectLst/>
                        </a:rPr>
                        <a:t>leia / escreva</a:t>
                      </a:r>
                      <a:endParaRPr lang="pt-BR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chemeClr val="bg2"/>
                          </a:solidFill>
                          <a:effectLst/>
                        </a:rPr>
                        <a:t>interação com o usuário.</a:t>
                      </a:r>
                      <a:endParaRPr lang="pt-BR" dirty="0">
                        <a:solidFill>
                          <a:schemeClr val="bg2"/>
                        </a:solidFill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24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818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13A62-F84C-6649-F476-DD8188A3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65FB9-7411-D925-29EF-190475ABA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pic>
        <p:nvPicPr>
          <p:cNvPr id="4" name="Imagem 3" descr="Linha do tempo">
            <a:extLst>
              <a:ext uri="{FF2B5EF4-FFF2-40B4-BE49-F238E27FC236}">
                <a16:creationId xmlns:a16="http://schemas.microsoft.com/office/drawing/2014/main" id="{C5690E11-BDDE-1CFF-3164-DC1AC37E5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6" t="13158" r="7442" b="6768"/>
          <a:stretch>
            <a:fillRect/>
          </a:stretch>
        </p:blipFill>
        <p:spPr>
          <a:xfrm>
            <a:off x="935914" y="1140311"/>
            <a:ext cx="10348857" cy="5325036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2BFA596A-19C7-8BA6-0C94-E7BFAFB3A7DC}"/>
              </a:ext>
            </a:extLst>
          </p:cNvPr>
          <p:cNvSpPr/>
          <p:nvPr/>
        </p:nvSpPr>
        <p:spPr>
          <a:xfrm>
            <a:off x="10499462" y="5088367"/>
            <a:ext cx="957431" cy="95743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CERTO?</a:t>
            </a:r>
          </a:p>
        </p:txBody>
      </p:sp>
    </p:spTree>
    <p:extLst>
      <p:ext uri="{BB962C8B-B14F-4D97-AF65-F5344CB8AC3E}">
        <p14:creationId xmlns:p14="http://schemas.microsoft.com/office/powerpoint/2010/main" val="4229907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DD31-B007-4D4C-F740-B47DA210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26476-3849-6DA7-94CC-940B84AF8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C8B487-0330-5F44-2C32-7E2E15588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8804" y="1484554"/>
            <a:ext cx="8170433" cy="4324575"/>
          </a:xfrm>
        </p:spPr>
        <p:txBody>
          <a:bodyPr anchor="ctr">
            <a:normAutofit/>
          </a:bodyPr>
          <a:lstStyle/>
          <a:p>
            <a:pPr algn="ctr"/>
            <a:r>
              <a:rPr lang="pt-BR" sz="5400" b="1" dirty="0"/>
              <a:t>PARTE 3</a:t>
            </a:r>
          </a:p>
          <a:p>
            <a:pPr algn="ctr"/>
            <a:r>
              <a:rPr lang="pt-BR" sz="5400" b="1" dirty="0"/>
              <a:t> pseudocódigo</a:t>
            </a:r>
          </a:p>
          <a:p>
            <a:pPr algn="ctr"/>
            <a:r>
              <a:rPr lang="pt-BR" sz="5400" b="1" dirty="0"/>
              <a:t>a ponte para a sintaxe</a:t>
            </a:r>
          </a:p>
        </p:txBody>
      </p:sp>
    </p:spTree>
    <p:extLst>
      <p:ext uri="{BB962C8B-B14F-4D97-AF65-F5344CB8AC3E}">
        <p14:creationId xmlns:p14="http://schemas.microsoft.com/office/powerpoint/2010/main" val="1788892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A7D17-134A-0733-8B10-05BF16B4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DDA8B-5AAB-4B4F-A785-4B9713E4C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BCFDE6-3ACF-441C-3181-7B0F49732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7590" y="1376978"/>
            <a:ext cx="9117106" cy="4883973"/>
          </a:xfrm>
        </p:spPr>
        <p:txBody>
          <a:bodyPr anchor="ctr">
            <a:normAutofit/>
          </a:bodyPr>
          <a:lstStyle/>
          <a:p>
            <a:pPr algn="ctr"/>
            <a:r>
              <a:rPr lang="pt-BR" sz="3000" b="1" dirty="0"/>
              <a:t>fundamentos e história</a:t>
            </a:r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O pseudocódigo (ou português estruturado) surgiu da necessidade de representar algoritmos de forma que humanos entendam, mas com a rigidez de uma máquina. Ele ignora as "frescuras" de cada linguagem (como ponto e vírgula) e foca na semântica.</a:t>
            </a:r>
          </a:p>
        </p:txBody>
      </p:sp>
    </p:spTree>
    <p:extLst>
      <p:ext uri="{BB962C8B-B14F-4D97-AF65-F5344CB8AC3E}">
        <p14:creationId xmlns:p14="http://schemas.microsoft.com/office/powerpoint/2010/main" val="2567254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147BA-F7BA-3F6E-6BDC-55D263A4C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E25BA-B889-0F2C-387A-9EF401127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0B3B6C-A5C8-B391-4EA4-BE65DFB90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7590" y="1376978"/>
            <a:ext cx="9117106" cy="4883973"/>
          </a:xfrm>
        </p:spPr>
        <p:txBody>
          <a:bodyPr anchor="ctr">
            <a:normAutofit/>
          </a:bodyPr>
          <a:lstStyle/>
          <a:p>
            <a:pPr algn="ctr"/>
            <a:r>
              <a:rPr lang="pt-BR" sz="3000" b="1" dirty="0"/>
              <a:t>contexto acadêmico e rumos</a:t>
            </a:r>
          </a:p>
          <a:p>
            <a:pPr algn="ctr"/>
            <a:endParaRPr lang="pt-BR" sz="3000" b="1" dirty="0"/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É a ferramenta definitiva para o ensino de algoritmos. Serve para validar a lógica antes da codificação real. Rumos profissionais incluem a escrita de documentação técnica e especificações para desenvolvedores juniores.</a:t>
            </a:r>
          </a:p>
        </p:txBody>
      </p:sp>
    </p:spTree>
    <p:extLst>
      <p:ext uri="{BB962C8B-B14F-4D97-AF65-F5344CB8AC3E}">
        <p14:creationId xmlns:p14="http://schemas.microsoft.com/office/powerpoint/2010/main" val="3308169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A895-2E21-4A9D-8D83-5C30A621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88D79-1275-0577-C438-71F5A0F5B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2CD05C1-74A9-D116-9288-0664AE3EF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431971"/>
              </p:ext>
            </p:extLst>
          </p:nvPr>
        </p:nvGraphicFramePr>
        <p:xfrm>
          <a:off x="150609" y="1591034"/>
          <a:ext cx="11844170" cy="39319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922085">
                  <a:extLst>
                    <a:ext uri="{9D8B030D-6E8A-4147-A177-3AD203B41FA5}">
                      <a16:colId xmlns:a16="http://schemas.microsoft.com/office/drawing/2014/main" val="1591178710"/>
                    </a:ext>
                  </a:extLst>
                </a:gridCol>
                <a:gridCol w="5922085">
                  <a:extLst>
                    <a:ext uri="{9D8B030D-6E8A-4147-A177-3AD203B41FA5}">
                      <a16:colId xmlns:a16="http://schemas.microsoft.com/office/drawing/2014/main" val="2749606895"/>
                    </a:ext>
                  </a:extLst>
                </a:gridCol>
              </a:tblGrid>
              <a:tr h="958527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algoritmo "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fazer_cafe</a:t>
                      </a: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"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variáveis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agua_ferveu</a:t>
                      </a: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quer_acucar</a:t>
                      </a: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: logico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po_no_filtro</a:t>
                      </a: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: logico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início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escreva("vontade de tomar café detectada.")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po_no_filtro</a:t>
                      </a: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&lt;- verdadeiro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repita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    escreva("esquentando a água...")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    leia(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agua_ferveu</a:t>
                      </a: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)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até (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agua_ferveu</a:t>
                      </a: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= verdadeiro)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dirty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escreva("despejando água no filtro...")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escreva("café coado com sucesso.")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escreva("você deseja adoçar o café? (v/f)")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leia(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quer_acucar</a:t>
                      </a: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)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se (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quer_acucar</a:t>
                      </a: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= verdadeiro) então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    escreva("adicionando açúcar e mexendo...")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</a:t>
                      </a:r>
                      <a:r>
                        <a:rPr lang="pt-BR" dirty="0" err="1">
                          <a:solidFill>
                            <a:schemeClr val="bg2"/>
                          </a:solidFill>
                        </a:rPr>
                        <a:t>fim_se</a:t>
                      </a:r>
                      <a:endParaRPr lang="pt-BR" dirty="0">
                        <a:solidFill>
                          <a:schemeClr val="bg2"/>
                        </a:solidFill>
                      </a:endParaRP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    escreva("fim: café servido e pronto para consumo!")</a:t>
                      </a:r>
                    </a:p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fim</a:t>
                      </a:r>
                    </a:p>
                    <a:p>
                      <a:endParaRPr lang="pt-BR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94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0901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8A7B-2A05-C278-9227-898F571F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A5A77B-2F9A-AD00-0C7B-20E791C59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3EE3D2-13B1-97C4-53B2-290913F98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882128"/>
            <a:ext cx="9891656" cy="5975872"/>
          </a:xfrm>
        </p:spPr>
        <p:txBody>
          <a:bodyPr anchor="ctr">
            <a:normAutofit fontScale="70000" lnSpcReduction="20000"/>
          </a:bodyPr>
          <a:lstStyle/>
          <a:p>
            <a:pPr algn="ctr"/>
            <a:r>
              <a:rPr lang="pt-BR" sz="3000" b="1" dirty="0"/>
              <a:t>Um pseudocódigo deve conter:</a:t>
            </a:r>
          </a:p>
          <a:p>
            <a:pPr algn="ctr"/>
            <a:endParaRPr lang="pt-BR" sz="3000" b="1" dirty="0"/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1. declaração de variáveis: reserva de espaço em memória.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2. corpo do algoritmo: sequência de instruções.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3. estruturas de controle: `se...então`, `enquanto...faça`, `para...até`.</a:t>
            </a:r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&gt; exemplo de cálculo de média: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&gt; `início`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&gt; `real nota1, nota2, media`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&gt; `leia(nota1, nota2)`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&gt; `media &lt;- (nota1 + nota2) / 2`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&gt; `se media &gt;= 7 então escreva("aprovado")`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&gt; `fim`</a:t>
            </a:r>
          </a:p>
        </p:txBody>
      </p:sp>
    </p:spTree>
    <p:extLst>
      <p:ext uri="{BB962C8B-B14F-4D97-AF65-F5344CB8AC3E}">
        <p14:creationId xmlns:p14="http://schemas.microsoft.com/office/powerpoint/2010/main" val="1164399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504B3-6F13-6334-2D08-DC82F019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65FBD-FC21-897D-2F96-F8F6E3F63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9908AA-2C63-98C8-6222-112DA96D0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882128"/>
            <a:ext cx="9891656" cy="5975872"/>
          </a:xfrm>
        </p:spPr>
        <p:txBody>
          <a:bodyPr anchor="ctr">
            <a:normAutofit fontScale="85000" lnSpcReduction="20000"/>
          </a:bodyPr>
          <a:lstStyle/>
          <a:p>
            <a:pPr algn="ctr"/>
            <a:r>
              <a:rPr lang="pt-BR" sz="3000" b="1" dirty="0"/>
              <a:t>aplicações e dia a dia</a:t>
            </a:r>
          </a:p>
          <a:p>
            <a:pPr algn="ctr"/>
            <a:endParaRPr lang="pt-BR" sz="3000" b="1" dirty="0"/>
          </a:p>
          <a:p>
            <a:pPr algn="ctr"/>
            <a:r>
              <a:rPr lang="pt-BR" sz="3000" b="1" dirty="0"/>
              <a:t> dia a dia: </a:t>
            </a:r>
            <a:r>
              <a:rPr lang="pt-BR" sz="3000" b="1" dirty="0">
                <a:solidFill>
                  <a:schemeClr val="tx1"/>
                </a:solidFill>
              </a:rPr>
              <a:t>listas de tarefas com condições ("se eu for ao mercado e tiver sabão, compre 2").</a:t>
            </a:r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  <a:p>
            <a:pPr algn="ctr"/>
            <a:r>
              <a:rPr lang="pt-BR" sz="3000" b="1" dirty="0"/>
              <a:t> aplicação técnica: </a:t>
            </a:r>
            <a:r>
              <a:rPr lang="pt-BR" sz="3000" b="1" dirty="0">
                <a:solidFill>
                  <a:schemeClr val="tx1"/>
                </a:solidFill>
              </a:rPr>
              <a:t>prototipagem rápida de algoritmos complexos de criptografia ou processamento de imagem antes da implementação em C++ ou Java.</a:t>
            </a:r>
          </a:p>
          <a:p>
            <a:pPr algn="ctr"/>
            <a:endParaRPr lang="pt-BR" sz="3000" b="1" dirty="0"/>
          </a:p>
          <a:p>
            <a:pPr algn="ctr"/>
            <a:r>
              <a:rPr lang="pt-BR" sz="3000" b="1" dirty="0"/>
              <a:t>base de estudo: </a:t>
            </a:r>
            <a:r>
              <a:rPr lang="pt-BR" sz="3000" b="1" dirty="0">
                <a:solidFill>
                  <a:schemeClr val="tx1"/>
                </a:solidFill>
              </a:rPr>
              <a:t>o aluno deve dominar o conceito de variáveis e constantes, além de entender a precedência de operadores matemáticos.</a:t>
            </a:r>
          </a:p>
        </p:txBody>
      </p:sp>
    </p:spTree>
    <p:extLst>
      <p:ext uri="{BB962C8B-B14F-4D97-AF65-F5344CB8AC3E}">
        <p14:creationId xmlns:p14="http://schemas.microsoft.com/office/powerpoint/2010/main" val="1627066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D2B84-496B-7245-11DD-A4416ACD9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6A93D-314F-D400-145D-2AB27841C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7C698-62E1-4504-9FF0-661777797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9202" y="1844936"/>
            <a:ext cx="6244814" cy="3168127"/>
          </a:xfrm>
        </p:spPr>
        <p:txBody>
          <a:bodyPr anchor="ctr">
            <a:normAutofit fontScale="92500" lnSpcReduction="10000"/>
          </a:bodyPr>
          <a:lstStyle/>
          <a:p>
            <a:pPr algn="ctr"/>
            <a:r>
              <a:rPr lang="pt-BR" sz="6000" b="1" dirty="0"/>
              <a:t>ATIVIDADE DE COMPOSIÇÃO DA </a:t>
            </a:r>
          </a:p>
          <a:p>
            <a:pPr algn="ctr"/>
            <a:r>
              <a:rPr lang="pt-BR" sz="6000" b="1" dirty="0">
                <a:solidFill>
                  <a:schemeClr val="tx1"/>
                </a:solidFill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205580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E296-7160-4C1D-DC7D-31B7A4CEA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94028-72E8-89C9-98A9-458D3BC0A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5FC37C-FF25-CE7C-8DC8-B65F8BD08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882128"/>
            <a:ext cx="9891656" cy="5975872"/>
          </a:xfrm>
        </p:spPr>
        <p:txBody>
          <a:bodyPr anchor="ctr">
            <a:normAutofit/>
          </a:bodyPr>
          <a:lstStyle/>
          <a:p>
            <a:pPr algn="ctr"/>
            <a:r>
              <a:rPr lang="pt-BR" sz="3000" b="1" dirty="0">
                <a:solidFill>
                  <a:schemeClr val="tx1"/>
                </a:solidFill>
              </a:rPr>
              <a:t>AVALIAÇÃO UNIFICADA VALENDO 2 PONTOS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AVALIAÇÃO CONTINUADA VALENDO 3 PONTOS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+ TRABALHO</a:t>
            </a:r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DISCIPLINAS 1 a 21 ATÉ 10/ABRIL</a:t>
            </a:r>
          </a:p>
          <a:p>
            <a:pPr algn="ctr"/>
            <a:r>
              <a:rPr lang="pt-BR" sz="3000" b="1" dirty="0">
                <a:solidFill>
                  <a:schemeClr val="tx1"/>
                </a:solidFill>
              </a:rPr>
              <a:t>LANÇAMENTO DA NOTA 28/ABRIL</a:t>
            </a:r>
          </a:p>
          <a:p>
            <a:pPr algn="ctr"/>
            <a:endParaRPr lang="pt-BR" sz="3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2631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7175-E821-BAEF-A73D-68E2FBB24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5D1F7-7D51-8423-2909-E1A51F3C9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115645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6F689F-34D0-F02C-F13B-5528E59D4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1011218"/>
            <a:ext cx="9478272" cy="5825265"/>
          </a:xfrm>
        </p:spPr>
        <p:txBody>
          <a:bodyPr anchor="ctr">
            <a:normAutofit fontScale="85000" lnSpcReduction="20000"/>
          </a:bodyPr>
          <a:lstStyle/>
          <a:p>
            <a:pPr algn="ctr"/>
            <a:r>
              <a:rPr lang="pt-BR" sz="3000" b="1" dirty="0">
                <a:solidFill>
                  <a:schemeClr val="tx1"/>
                </a:solidFill>
              </a:rPr>
              <a:t>TRABALHO A1 (UNIFICADA + CONTINUADA)</a:t>
            </a:r>
          </a:p>
          <a:p>
            <a:r>
              <a:rPr lang="pt-BR" sz="3000" b="1" dirty="0">
                <a:solidFill>
                  <a:schemeClr val="tx1"/>
                </a:solidFill>
              </a:rPr>
              <a:t>Os grupos (até 6 pessoas) deverão RESOLVER ESSE PROBLEMA:</a:t>
            </a:r>
            <a:br>
              <a:rPr lang="pt-BR" sz="3000" b="1" dirty="0">
                <a:solidFill>
                  <a:schemeClr val="tx1"/>
                </a:solidFill>
              </a:rPr>
            </a:br>
            <a:br>
              <a:rPr lang="pt-BR" sz="3000" b="1" dirty="0">
                <a:solidFill>
                  <a:schemeClr val="tx1"/>
                </a:solidFill>
              </a:rPr>
            </a:br>
            <a:r>
              <a:rPr lang="pt-BR" b="1" dirty="0"/>
              <a:t>atividades dos alunos: o desafio da média acadêmica</a:t>
            </a:r>
          </a:p>
          <a:p>
            <a:r>
              <a:rPr lang="pt-BR" b="1" dirty="0">
                <a:solidFill>
                  <a:schemeClr val="tx1"/>
                </a:solidFill>
              </a:rPr>
              <a:t>contexto:</a:t>
            </a:r>
            <a:r>
              <a:rPr lang="pt-BR" dirty="0">
                <a:solidFill>
                  <a:schemeClr val="tx1"/>
                </a:solidFill>
              </a:rPr>
              <a:t> você foi contratado por uma escola para automatizar o sistema de notas. o objetivo é criar um algoritmo que calcule a média final de um aluno com base em 4 notas e exiba seu status final.</a:t>
            </a:r>
          </a:p>
          <a:p>
            <a:r>
              <a:rPr lang="pt-BR" b="1" dirty="0"/>
              <a:t>regras de negócio:</a:t>
            </a:r>
            <a:endParaRPr lang="pt-BR" dirty="0"/>
          </a:p>
          <a:p>
            <a:r>
              <a:rPr lang="pt-BR" dirty="0">
                <a:solidFill>
                  <a:schemeClr val="tx1"/>
                </a:solidFill>
              </a:rPr>
              <a:t>o sistema deve receber quatro notas (de 0 a 10).</a:t>
            </a:r>
          </a:p>
          <a:p>
            <a:r>
              <a:rPr lang="pt-BR" dirty="0">
                <a:solidFill>
                  <a:schemeClr val="tx1"/>
                </a:solidFill>
              </a:rPr>
              <a:t>calcular a média aritmética simples dessas notas.</a:t>
            </a:r>
          </a:p>
          <a:p>
            <a:r>
              <a:rPr lang="pt-BR" b="1" dirty="0"/>
              <a:t>regra de aprovação:</a:t>
            </a:r>
            <a:endParaRPr lang="pt-BR" dirty="0"/>
          </a:p>
          <a:p>
            <a:pPr lvl="1"/>
            <a:r>
              <a:rPr lang="pt-BR" dirty="0"/>
              <a:t>se a média for maior ou igual a 7.0 → </a:t>
            </a:r>
            <a:r>
              <a:rPr lang="pt-BR" b="1" dirty="0"/>
              <a:t>aprovado</a:t>
            </a:r>
            <a:r>
              <a:rPr lang="pt-BR" dirty="0"/>
              <a:t> (exibir em </a:t>
            </a:r>
            <a:r>
              <a:rPr lang="pt-BR" b="1" dirty="0"/>
              <a:t>azul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se a média for entre 5.0 e 6.9 → </a:t>
            </a:r>
            <a:r>
              <a:rPr lang="pt-BR" b="1" dirty="0"/>
              <a:t>em exame</a:t>
            </a:r>
            <a:r>
              <a:rPr lang="pt-BR" dirty="0"/>
              <a:t> (exibir em laranja).</a:t>
            </a:r>
          </a:p>
          <a:p>
            <a:pPr lvl="1"/>
            <a:r>
              <a:rPr lang="pt-BR" dirty="0"/>
              <a:t>se a média for menor que 5.0 → </a:t>
            </a:r>
            <a:r>
              <a:rPr lang="pt-BR" b="1" dirty="0"/>
              <a:t>reprovado</a:t>
            </a:r>
            <a:r>
              <a:rPr lang="pt-BR" dirty="0"/>
              <a:t> (exibir em vermelho).</a:t>
            </a:r>
            <a:endParaRPr lang="pt-BR" sz="3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898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30BD7-65B2-1572-7492-CF5B96004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F4942-B7D0-3F10-A8C0-9D9459859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177" y="352314"/>
            <a:ext cx="10064565" cy="1054249"/>
          </a:xfrm>
        </p:spPr>
        <p:txBody>
          <a:bodyPr tIns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4000" dirty="0"/>
              <a:t>Algoritmos e Lógica de Programação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DD8CB40-02B1-F619-CDDF-C2076B10F1D4}"/>
              </a:ext>
            </a:extLst>
          </p:cNvPr>
          <p:cNvSpPr txBox="1">
            <a:spLocks/>
          </p:cNvSpPr>
          <p:nvPr/>
        </p:nvSpPr>
        <p:spPr>
          <a:xfrm>
            <a:off x="1516043" y="2844492"/>
            <a:ext cx="9913957" cy="116901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tx2"/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697307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{5CD8E117-5C12-4D2E-B1B0-C6CA9A0B9BFE}TF6d5feb1e-e145-43f1-b745-cb4b54c5ee974db0861f-e580bbd8a4c7</Template>
  <TotalTime>883</TotalTime>
  <Words>2329</Words>
  <Application>Microsoft Office PowerPoint</Application>
  <PresentationFormat>Widescreen</PresentationFormat>
  <Paragraphs>347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2" baseType="lpstr">
      <vt:lpstr>Arial</vt:lpstr>
      <vt:lpstr>Google Sans Text</vt:lpstr>
      <vt:lpstr>Tw Cen MT</vt:lpstr>
      <vt:lpstr>Circuito</vt:lpstr>
      <vt:lpstr>Prof. Ballak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  <vt:lpstr>Algoritmos e Lógica de Programação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BALLAK - Consultoria e Treinamento Empresarial</dc:creator>
  <cp:lastModifiedBy>BALLAK TI, Gestão e Educação</cp:lastModifiedBy>
  <cp:revision>40</cp:revision>
  <dcterms:created xsi:type="dcterms:W3CDTF">2026-01-27T23:31:12Z</dcterms:created>
  <dcterms:modified xsi:type="dcterms:W3CDTF">2026-03-02T18:55:58Z</dcterms:modified>
</cp:coreProperties>
</file>