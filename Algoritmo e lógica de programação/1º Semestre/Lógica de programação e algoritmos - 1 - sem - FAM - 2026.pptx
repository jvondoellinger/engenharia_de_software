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58" r:id="rId10"/>
    <p:sldId id="26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8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3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AB9A-9AB6-8546-4796-1F22DD28A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953" y="3526700"/>
            <a:ext cx="9913957" cy="1169016"/>
          </a:xfrm>
        </p:spPr>
        <p:txBody>
          <a:bodyPr anchor="ctr" anchorCtr="0"/>
          <a:lstStyle/>
          <a:p>
            <a:pPr algn="ctr"/>
            <a:r>
              <a:rPr lang="pt-BR" dirty="0"/>
              <a:t>Bem-vindos à FAM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0C97AD-6261-E210-F8B0-C2A574A8A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1952" y="4695716"/>
            <a:ext cx="9913958" cy="756604"/>
          </a:xfrm>
        </p:spPr>
        <p:txBody>
          <a:bodyPr anchor="ctr" anchorCtr="0">
            <a:normAutofit fontScale="85000" lnSpcReduction="20000"/>
          </a:bodyPr>
          <a:lstStyle/>
          <a:p>
            <a:pPr algn="ctr"/>
            <a:r>
              <a:rPr lang="pt-BR" dirty="0"/>
              <a:t>Prezados discentes. Tenham todos um excelente semestre!</a:t>
            </a:r>
          </a:p>
          <a:p>
            <a:pPr algn="ctr"/>
            <a:r>
              <a:rPr lang="pt-BR" dirty="0"/>
              <a:t>SEMESTRE 1 / 2026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2616294-E77E-5127-797A-B70BB6490399}"/>
              </a:ext>
            </a:extLst>
          </p:cNvPr>
          <p:cNvSpPr txBox="1">
            <a:spLocks/>
          </p:cNvSpPr>
          <p:nvPr/>
        </p:nvSpPr>
        <p:spPr>
          <a:xfrm>
            <a:off x="1666649" y="1554453"/>
            <a:ext cx="10064565" cy="1054249"/>
          </a:xfrm>
          <a:prstGeom prst="rect">
            <a:avLst/>
          </a:prstGeom>
        </p:spPr>
        <p:txBody>
          <a:bodyPr vert="horz" lIns="91440" tIns="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pt-BR" sz="6600" dirty="0"/>
              <a:t>Algoritmos e Lógica</a:t>
            </a:r>
          </a:p>
          <a:p>
            <a:pPr algn="ctr">
              <a:lnSpc>
                <a:spcPct val="100000"/>
              </a:lnSpc>
            </a:pPr>
            <a:r>
              <a:rPr lang="pt-BR" sz="6600" dirty="0"/>
              <a:t>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288778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E4424-40F2-3DE9-CAB7-EE493531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716B2-FDD6-034C-7696-5277677EB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F78A05-ADD9-8AA4-2967-B5A6493E6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/>
          </a:bodyPr>
          <a:lstStyle/>
          <a:p>
            <a:pPr algn="ctr"/>
            <a:r>
              <a:rPr lang="pt-BR" sz="3000" b="1" dirty="0"/>
              <a:t>PROF. ESP. Wagner </a:t>
            </a:r>
            <a:r>
              <a:rPr lang="pt-BR" sz="3000" b="1" dirty="0" err="1"/>
              <a:t>ballak</a:t>
            </a:r>
            <a:endParaRPr lang="pt-BR" sz="3000" b="1" dirty="0"/>
          </a:p>
          <a:p>
            <a:r>
              <a:rPr lang="pt-BR" b="1" dirty="0">
                <a:solidFill>
                  <a:schemeClr val="tx1"/>
                </a:solidFill>
              </a:rPr>
              <a:t>•	Sou docente E Profissional de T.I. há 26 anos.</a:t>
            </a:r>
          </a:p>
          <a:p>
            <a:r>
              <a:rPr lang="pt-BR" b="1" dirty="0">
                <a:solidFill>
                  <a:schemeClr val="tx1"/>
                </a:solidFill>
              </a:rPr>
              <a:t>•	Administrador, Matemático e Analista de Sistemas.</a:t>
            </a:r>
          </a:p>
          <a:p>
            <a:r>
              <a:rPr lang="pt-BR" b="1" dirty="0">
                <a:solidFill>
                  <a:schemeClr val="tx1"/>
                </a:solidFill>
              </a:rPr>
              <a:t>•	CEO DA BALLAK T.I. desde o ano 2000, com expertise em 	desenvolvimento de 	soluções, atendendo a centenas de clientes 	no Brasil e no exterior.</a:t>
            </a:r>
          </a:p>
          <a:p>
            <a:r>
              <a:rPr lang="pt-BR" b="1" dirty="0">
                <a:solidFill>
                  <a:schemeClr val="tx1"/>
                </a:solidFill>
              </a:rPr>
              <a:t>•	Possuo dez formações acadêmicas completas e uma incompleta.</a:t>
            </a:r>
          </a:p>
          <a:p>
            <a:r>
              <a:rPr lang="pt-BR" b="1" dirty="0">
                <a:solidFill>
                  <a:schemeClr val="tx1"/>
                </a:solidFill>
              </a:rPr>
              <a:t>•	Possuo 4 livros publicados pela Editora Clube de Autores. </a:t>
            </a:r>
          </a:p>
          <a:p>
            <a:r>
              <a:rPr lang="pt-BR" b="1" dirty="0">
                <a:solidFill>
                  <a:schemeClr val="tx1"/>
                </a:solidFill>
              </a:rPr>
              <a:t>•	Sou instrutor nas plataformas de e-learning (educação) UDEMY, 	HOTMART e KIWIFY.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PORTFÓLIOS: </a:t>
            </a:r>
            <a:r>
              <a:rPr lang="pt-BR" b="1" dirty="0"/>
              <a:t>www.ballak.pro.br   </a:t>
            </a:r>
            <a:r>
              <a:rPr lang="pt-BR" b="1" dirty="0">
                <a:solidFill>
                  <a:schemeClr val="tx1"/>
                </a:solidFill>
              </a:rPr>
              <a:t>|   </a:t>
            </a:r>
            <a:r>
              <a:rPr lang="pt-BR" b="1" dirty="0"/>
              <a:t>www.sistemasballak.tec.br</a:t>
            </a:r>
          </a:p>
        </p:txBody>
      </p:sp>
    </p:spTree>
    <p:extLst>
      <p:ext uri="{BB962C8B-B14F-4D97-AF65-F5344CB8AC3E}">
        <p14:creationId xmlns:p14="http://schemas.microsoft.com/office/powerpoint/2010/main" val="334340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3417F-1129-2F7C-6895-DB2F80D0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EE6D8-98CE-F616-16A5-B8285988B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953" y="3526700"/>
            <a:ext cx="9913957" cy="1169016"/>
          </a:xfrm>
        </p:spPr>
        <p:txBody>
          <a:bodyPr anchor="ctr" anchorCtr="0"/>
          <a:lstStyle/>
          <a:p>
            <a:pPr algn="ctr"/>
            <a:r>
              <a:rPr lang="pt-BR" dirty="0">
                <a:solidFill>
                  <a:schemeClr val="tx2"/>
                </a:solidFill>
              </a:rPr>
              <a:t>RECADOS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4E7318-EB03-29D2-BDE3-02A0CB237791}"/>
              </a:ext>
            </a:extLst>
          </p:cNvPr>
          <p:cNvSpPr txBox="1">
            <a:spLocks/>
          </p:cNvSpPr>
          <p:nvPr/>
        </p:nvSpPr>
        <p:spPr>
          <a:xfrm>
            <a:off x="1666649" y="1554453"/>
            <a:ext cx="10064565" cy="1054249"/>
          </a:xfrm>
          <a:prstGeom prst="rect">
            <a:avLst/>
          </a:prstGeom>
        </p:spPr>
        <p:txBody>
          <a:bodyPr vert="horz" lIns="91440" tIns="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pt-BR" sz="6600" dirty="0"/>
              <a:t>Algoritmos e Lógica</a:t>
            </a:r>
          </a:p>
          <a:p>
            <a:pPr algn="ctr">
              <a:lnSpc>
                <a:spcPct val="100000"/>
              </a:lnSpc>
            </a:pPr>
            <a:r>
              <a:rPr lang="pt-BR" sz="6600" dirty="0"/>
              <a:t>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130047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9A3C0-A506-9F93-BD8B-93CFD54D8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04A20-AAA8-CB6E-6FF9-3BD3D5E71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BAA5EB-F361-402E-3D4A-5D1AC305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4" y="1503377"/>
            <a:ext cx="3109746" cy="4058325"/>
          </a:xfrm>
        </p:spPr>
        <p:txBody>
          <a:bodyPr anchor="t">
            <a:normAutofit/>
          </a:bodyPr>
          <a:lstStyle/>
          <a:p>
            <a:pPr algn="ctr"/>
            <a:r>
              <a:rPr lang="pt-BR" sz="3200" b="1" dirty="0"/>
              <a:t>A1:  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13 a 15/04/2026 (Unificada)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2 </a:t>
            </a:r>
            <a:r>
              <a:rPr lang="pt-BR" b="1" dirty="0" err="1">
                <a:solidFill>
                  <a:schemeClr val="tx1"/>
                </a:solidFill>
              </a:rPr>
              <a:t>pONTOS</a:t>
            </a:r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15 a 17/04/2026 (CONTINUADA)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 3 </a:t>
            </a:r>
            <a:r>
              <a:rPr lang="pt-BR" b="1" dirty="0" err="1">
                <a:solidFill>
                  <a:schemeClr val="tx1"/>
                </a:solidFill>
              </a:rPr>
              <a:t>pONTOS</a:t>
            </a:r>
            <a:endParaRPr lang="pt-BR" b="1" dirty="0">
              <a:solidFill>
                <a:schemeClr val="tx1"/>
              </a:solidFill>
            </a:endParaRPr>
          </a:p>
          <a:p>
            <a:pPr algn="ctr"/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9565713C-4C57-FAE7-7ED8-5679FA449DB8}"/>
              </a:ext>
            </a:extLst>
          </p:cNvPr>
          <p:cNvSpPr txBox="1">
            <a:spLocks/>
          </p:cNvSpPr>
          <p:nvPr/>
        </p:nvSpPr>
        <p:spPr>
          <a:xfrm>
            <a:off x="5260490" y="1503376"/>
            <a:ext cx="3109746" cy="40583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200" b="1" dirty="0"/>
              <a:t>A2: 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08 a 12/06/2026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3 </a:t>
            </a:r>
            <a:r>
              <a:rPr lang="pt-BR" b="1" dirty="0" err="1">
                <a:solidFill>
                  <a:schemeClr val="tx1"/>
                </a:solidFill>
              </a:rPr>
              <a:t>pONTOS</a:t>
            </a:r>
            <a:r>
              <a:rPr lang="pt-BR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CONTEEX - 25/5 a 03/06 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2 pontos</a:t>
            </a:r>
          </a:p>
          <a:p>
            <a:pPr algn="ctr"/>
            <a:r>
              <a:rPr lang="pt-BR" sz="1400" b="1" dirty="0">
                <a:solidFill>
                  <a:schemeClr val="tx1"/>
                </a:solidFill>
              </a:rPr>
              <a:t>15 quest. de múltipla escolha: 0,15</a:t>
            </a:r>
          </a:p>
          <a:p>
            <a:pPr algn="ctr"/>
            <a:r>
              <a:rPr lang="pt-BR" sz="1400" b="1" dirty="0">
                <a:solidFill>
                  <a:schemeClr val="tx1"/>
                </a:solidFill>
              </a:rPr>
              <a:t>2 dissertativas: 0,75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36460A8-627F-957F-70EA-124B14AEE7AE}"/>
              </a:ext>
            </a:extLst>
          </p:cNvPr>
          <p:cNvSpPr txBox="1">
            <a:spLocks/>
          </p:cNvSpPr>
          <p:nvPr/>
        </p:nvSpPr>
        <p:spPr>
          <a:xfrm>
            <a:off x="8370236" y="1503376"/>
            <a:ext cx="3109746" cy="405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200" b="1" dirty="0"/>
              <a:t>A3:  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22 e 23/06/2026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SUBSTITUTIVA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5 pontos</a:t>
            </a:r>
          </a:p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F9BAAF0-665A-7B14-85CD-6CB5AC06A3F5}"/>
              </a:ext>
            </a:extLst>
          </p:cNvPr>
          <p:cNvSpPr txBox="1"/>
          <p:nvPr/>
        </p:nvSpPr>
        <p:spPr>
          <a:xfrm>
            <a:off x="1195892" y="5977690"/>
            <a:ext cx="9800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A1 (continuada) + dois instrumentos definidos pelo professos (prova +</a:t>
            </a:r>
          </a:p>
          <a:p>
            <a:pPr algn="ctr"/>
            <a:r>
              <a:rPr lang="pt-BR" dirty="0"/>
              <a:t>01 atividades, ou 02 atividades)</a:t>
            </a:r>
          </a:p>
        </p:txBody>
      </p:sp>
    </p:spTree>
    <p:extLst>
      <p:ext uri="{BB962C8B-B14F-4D97-AF65-F5344CB8AC3E}">
        <p14:creationId xmlns:p14="http://schemas.microsoft.com/office/powerpoint/2010/main" val="349341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EBEB2-2FCA-EFB1-4EFB-7A1C089A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9617D-C333-8CF7-3832-5E03309BD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718" y="223222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pic>
        <p:nvPicPr>
          <p:cNvPr id="10" name="Imagem 9" descr="Tabela&#10;&#10;O conteúdo gerado por IA pode estar incorreto.">
            <a:extLst>
              <a:ext uri="{FF2B5EF4-FFF2-40B4-BE49-F238E27FC236}">
                <a16:creationId xmlns:a16="http://schemas.microsoft.com/office/drawing/2014/main" id="{60884D7E-58FC-CDBC-9C97-C252E14879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79" t="26235" r="15857" b="9647"/>
          <a:stretch>
            <a:fillRect/>
          </a:stretch>
        </p:blipFill>
        <p:spPr>
          <a:xfrm>
            <a:off x="1965064" y="1473798"/>
            <a:ext cx="8261873" cy="439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1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0842-CD8C-A71F-1016-1EFD9CC2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080C1-DC85-CC0E-1D5F-C620ADB4A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4051" y="169434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9AB883-04CF-2DFE-C562-573BE16DD810}"/>
              </a:ext>
            </a:extLst>
          </p:cNvPr>
          <p:cNvSpPr txBox="1"/>
          <p:nvPr/>
        </p:nvSpPr>
        <p:spPr>
          <a:xfrm>
            <a:off x="2097741" y="1428083"/>
            <a:ext cx="975718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tx2"/>
                </a:solidFill>
              </a:rPr>
              <a:t>FREQUÊNCIA</a:t>
            </a:r>
          </a:p>
          <a:p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O LANÇAMENTO DEVE SER FEITO SEMANALMENTE;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VEJA MANUAL DE LANÇAMENTO DE FREQUÊNCIA;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SERÁ REALIZADO ACOMPANHAMENTO DO LANÇAMENTO DE FREQUÊNCIA;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OS ALUNOS PODEM TER 6 DIAS COMO AUSENTES EM CADA DISCIPLINA.</a:t>
            </a:r>
          </a:p>
        </p:txBody>
      </p:sp>
    </p:spTree>
    <p:extLst>
      <p:ext uri="{BB962C8B-B14F-4D97-AF65-F5344CB8AC3E}">
        <p14:creationId xmlns:p14="http://schemas.microsoft.com/office/powerpoint/2010/main" val="147038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88EE-A61C-2142-6954-A7701A8F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6441F-F9B1-43C0-EFAB-74C95DCB6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4051" y="199212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5F1B58-126A-F8C0-A8C0-22F36D267858}"/>
              </a:ext>
            </a:extLst>
          </p:cNvPr>
          <p:cNvSpPr txBox="1"/>
          <p:nvPr/>
        </p:nvSpPr>
        <p:spPr>
          <a:xfrm>
            <a:off x="2097741" y="1352777"/>
            <a:ext cx="97571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tx2"/>
                </a:solidFill>
              </a:rPr>
              <a:t>RECADOS</a:t>
            </a:r>
          </a:p>
          <a:p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TROCAS DE SALA, OU LABORATÓRIOS SOMENTE APÓS </a:t>
            </a:r>
            <a:r>
              <a:rPr lang="pt-BR" sz="2800"/>
              <a:t>APROVAÇÃO DA </a:t>
            </a:r>
            <a:r>
              <a:rPr lang="pt-BR" sz="2800" dirty="0"/>
              <a:t>COORDENAÇÃO E DO PLANEJAMENTO;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ELEIÇÃO DE REPRESENTANTES NA TERCEIRA SEMANA DE AULA;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SAÍDA DE ALUNOS SÓ COM 10 MINUTOS ANTES DO TÉRMINO DO HORÁRIO, APÓS REALIZAR CHAMADA;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ALUNOS QUE NÃO ESTIVEREM NA LISTA DE PROVAS NÃO RECEBERÃO NOTAS/PROVAS;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VALORIZE O DIA DE VISTAS DE NOTAS.</a:t>
            </a:r>
          </a:p>
        </p:txBody>
      </p:sp>
    </p:spTree>
    <p:extLst>
      <p:ext uri="{BB962C8B-B14F-4D97-AF65-F5344CB8AC3E}">
        <p14:creationId xmlns:p14="http://schemas.microsoft.com/office/powerpoint/2010/main" val="3108909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4445E-AD29-14C0-B5A6-2B28A205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BA36C-0BDB-39DB-69B4-DFB40C499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4051" y="199212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CB64EB-6E2B-6CD9-D8E5-6BDC3B015F13}"/>
              </a:ext>
            </a:extLst>
          </p:cNvPr>
          <p:cNvSpPr txBox="1"/>
          <p:nvPr/>
        </p:nvSpPr>
        <p:spPr>
          <a:xfrm>
            <a:off x="2097741" y="1159138"/>
            <a:ext cx="975718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2"/>
                </a:solidFill>
              </a:rPr>
              <a:t>PRÊMIO MERERE (25/06/2026)</a:t>
            </a:r>
          </a:p>
          <a:p>
            <a:endParaRPr lang="pt-BR" sz="2000" dirty="0"/>
          </a:p>
          <a:p>
            <a:pPr algn="ctr"/>
            <a:r>
              <a:rPr lang="pt-BR" sz="2000" dirty="0"/>
              <a:t>DISTINÇÃO E MÉRITO ACADÊMICO - COM O OBJETIVO DE RECONHECER O</a:t>
            </a:r>
          </a:p>
          <a:p>
            <a:pPr algn="ctr"/>
            <a:r>
              <a:rPr lang="pt-BR" sz="2000" dirty="0"/>
              <a:t>DESEMPENHO ACADÊMICO, O COMPROMETIMENTO E A EXCELÊNCIA DOS ESTUDANTES DOS CURSOS DO EIXO TEEX, INSTITUÍMOS OS SEGUINTES PRÊMIOS: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algn="ctr"/>
            <a:r>
              <a:rPr lang="pt-BR" sz="2000" b="1" dirty="0">
                <a:solidFill>
                  <a:schemeClr val="tx2"/>
                </a:solidFill>
              </a:rPr>
              <a:t>1. PRÊMIO MÉRITUS – ALUNOS EM CURSO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sz="2000" b="1" dirty="0">
              <a:solidFill>
                <a:schemeClr val="tx2"/>
              </a:solidFill>
            </a:endParaRPr>
          </a:p>
          <a:p>
            <a:pPr algn="ctr"/>
            <a:r>
              <a:rPr lang="pt-BR" sz="2000" dirty="0"/>
              <a:t>CONCEDIDO A ESTUDANTES QUE AINDA ESTEJAM CURSANDO O BACHARELADO E QUE SE DESTAQUEM PELO MÉRITO ACADÊMICO.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sz="2000" dirty="0"/>
          </a:p>
          <a:p>
            <a:pPr algn="ctr"/>
            <a:r>
              <a:rPr lang="pt-BR" sz="2000" b="1" dirty="0">
                <a:solidFill>
                  <a:schemeClr val="tx2"/>
                </a:solidFill>
              </a:rPr>
              <a:t>2. PRÊMIO EMÉRITUS – ALUNOS CONCLUINTES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sz="2000" dirty="0"/>
          </a:p>
          <a:p>
            <a:pPr algn="ctr"/>
            <a:r>
              <a:rPr lang="pt-BR" sz="2000" dirty="0"/>
              <a:t>CONCEDIDO A ALUNOS CONCLUINTES, ESPECIALMENTE AQUELES QUE APRESENTAREM</a:t>
            </a:r>
          </a:p>
          <a:p>
            <a:pPr algn="ctr"/>
            <a:r>
              <a:rPr lang="pt-BR" sz="2000" dirty="0"/>
              <a:t>TRABALHO DE CONCLUSÃO DE CURSO (TCC) OU PROJETO FINAL DE CURSO COM DESTAQUE.</a:t>
            </a:r>
          </a:p>
        </p:txBody>
      </p:sp>
    </p:spTree>
    <p:extLst>
      <p:ext uri="{BB962C8B-B14F-4D97-AF65-F5344CB8AC3E}">
        <p14:creationId xmlns:p14="http://schemas.microsoft.com/office/powerpoint/2010/main" val="271317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B03CB-8AD0-6A4A-2F42-46FEEF08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B4E1A-6EF4-A41E-3B8E-1B55FCBA8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76AC0F-DCFA-02D9-F82F-BF2DEE2B9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395805"/>
            <a:ext cx="9515925" cy="4918935"/>
          </a:xfrm>
        </p:spPr>
        <p:txBody>
          <a:bodyPr anchor="ctr">
            <a:normAutofit/>
          </a:bodyPr>
          <a:lstStyle/>
          <a:p>
            <a:pPr algn="ctr"/>
            <a:r>
              <a:rPr lang="pt-BR" sz="3600" b="1" dirty="0">
                <a:solidFill>
                  <a:schemeClr val="tx1"/>
                </a:solidFill>
              </a:rPr>
              <a:t>Aula 1: </a:t>
            </a:r>
            <a:r>
              <a:rPr lang="pt-BR" sz="3600" b="1" dirty="0"/>
              <a:t>abordagem contextual da lógica de programação</a:t>
            </a:r>
          </a:p>
          <a:p>
            <a:pPr algn="ctr"/>
            <a:r>
              <a:rPr lang="pt-BR" sz="3600" b="1" dirty="0"/>
              <a:t>9/</a:t>
            </a:r>
            <a:r>
              <a:rPr lang="pt-BR" sz="3600" b="1" dirty="0" err="1"/>
              <a:t>fev</a:t>
            </a:r>
            <a:r>
              <a:rPr lang="pt-BR" sz="3600" b="1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1110823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4C6F3-F1EA-086B-304C-51F09376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76C38-7EED-2FD1-C351-250306EB1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CB4E9E-4551-916C-8A22-41BB9AE16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395805"/>
            <a:ext cx="9515925" cy="4918935"/>
          </a:xfrm>
        </p:spPr>
        <p:txBody>
          <a:bodyPr anchor="ctr">
            <a:normAutofit/>
          </a:bodyPr>
          <a:lstStyle/>
          <a:p>
            <a:pPr algn="ctr"/>
            <a:r>
              <a:rPr lang="pt-BR" sz="3600" b="1" dirty="0"/>
              <a:t>Visão ontológica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ONTOLOGIA é o ramo da filosofia (metafísica) que estuda o ser em sua essência, as propriedades gerais de tudo que existe, e a natureza da realidade, perguntando "o que é?"</a:t>
            </a:r>
          </a:p>
        </p:txBody>
      </p:sp>
    </p:spTree>
    <p:extLst>
      <p:ext uri="{BB962C8B-B14F-4D97-AF65-F5344CB8AC3E}">
        <p14:creationId xmlns:p14="http://schemas.microsoft.com/office/powerpoint/2010/main" val="1314355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4C274-6E8A-F0DA-2A67-F718B307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B1B9B-C0F7-EB8B-5BFB-33C966B45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B6F120-D108-4C29-B573-E09B32A63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395805"/>
            <a:ext cx="9515925" cy="4918935"/>
          </a:xfrm>
        </p:spPr>
        <p:txBody>
          <a:bodyPr anchor="ctr">
            <a:normAutofit fontScale="92500" lnSpcReduction="10000"/>
          </a:bodyPr>
          <a:lstStyle/>
          <a:p>
            <a:r>
              <a:rPr lang="pt-BR" sz="1600" b="1" dirty="0">
                <a:solidFill>
                  <a:schemeClr val="tx1"/>
                </a:solidFill>
              </a:rPr>
              <a:t>a lógica de programação não é o estudo de softwares, mas o estudo de métodos para a solução de problemas via processamento de dados.</a:t>
            </a:r>
          </a:p>
          <a:p>
            <a:r>
              <a:rPr lang="pt-BR" sz="1600" b="1" dirty="0">
                <a:solidFill>
                  <a:schemeClr val="tx1"/>
                </a:solidFill>
              </a:rPr>
              <a:t>o conceito de estado: em lógica, um sistema é definido pelo seu estado (o valor de suas variáveis em um momento t). a programação é a transição controlada entre estados.</a:t>
            </a:r>
          </a:p>
          <a:p>
            <a:r>
              <a:rPr lang="pt-BR" sz="1600" b="1" dirty="0">
                <a:solidFill>
                  <a:schemeClr val="tx1"/>
                </a:solidFill>
              </a:rPr>
              <a:t>determinismo vs. </a:t>
            </a:r>
            <a:r>
              <a:rPr lang="pt-BR" sz="1600" b="1" dirty="0" err="1">
                <a:solidFill>
                  <a:schemeClr val="tx1"/>
                </a:solidFill>
              </a:rPr>
              <a:t>estocasticidade</a:t>
            </a:r>
            <a:r>
              <a:rPr lang="pt-BR" sz="1600" b="1" dirty="0">
                <a:solidFill>
                  <a:schemeClr val="tx1"/>
                </a:solidFill>
              </a:rPr>
              <a:t>: um algoritmo fundamental deve ser determinístico. para uma entrada x, a saída y deve ser sempre reprodutível.</a:t>
            </a:r>
          </a:p>
          <a:p>
            <a:pPr algn="ctr"/>
            <a:endParaRPr lang="pt-BR" sz="1600" b="1" dirty="0">
              <a:solidFill>
                <a:schemeClr val="accent2"/>
              </a:solidFill>
            </a:endParaRPr>
          </a:p>
          <a:p>
            <a:pPr algn="ctr"/>
            <a:r>
              <a:rPr lang="pt-BR" sz="2600" b="1" dirty="0"/>
              <a:t>propriedades essenciais:</a:t>
            </a:r>
          </a:p>
          <a:p>
            <a:pPr algn="ctr"/>
            <a:endParaRPr lang="pt-BR" sz="1600" b="1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600" b="1" dirty="0"/>
              <a:t>        finitude: </a:t>
            </a:r>
            <a:r>
              <a:rPr lang="pt-BR" sz="1600" b="1" dirty="0">
                <a:solidFill>
                  <a:schemeClr val="tx1"/>
                </a:solidFill>
              </a:rPr>
              <a:t>um algoritmo não pode processar infinitamente; deve haver um estado terminal.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600" b="1" dirty="0"/>
              <a:t>        efetividade: </a:t>
            </a:r>
            <a:r>
              <a:rPr lang="pt-BR" sz="1600" b="1" dirty="0">
                <a:solidFill>
                  <a:schemeClr val="tx1"/>
                </a:solidFill>
              </a:rPr>
              <a:t>cada operação deve ser básica o suficiente para ser executada por um agente de processamento em tempo finito.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600" b="1" dirty="0"/>
              <a:t>        não-ambiguidade: </a:t>
            </a:r>
            <a:r>
              <a:rPr lang="pt-BR" sz="1600" b="1" dirty="0">
                <a:solidFill>
                  <a:schemeClr val="tx1"/>
                </a:solidFill>
              </a:rPr>
              <a:t>a instrução não pode permitir duas interpretações.</a:t>
            </a:r>
          </a:p>
        </p:txBody>
      </p:sp>
    </p:spTree>
    <p:extLst>
      <p:ext uri="{BB962C8B-B14F-4D97-AF65-F5344CB8AC3E}">
        <p14:creationId xmlns:p14="http://schemas.microsoft.com/office/powerpoint/2010/main" val="129711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450D-A12D-1AA2-768F-55357492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25173-ED53-27D4-D6E0-A35ED4D58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CBE963-5B80-096F-17D9-AD39F4030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395805"/>
            <a:ext cx="9515925" cy="4918935"/>
          </a:xfrm>
        </p:spPr>
        <p:txBody>
          <a:bodyPr anchor="ctr">
            <a:normAutofit/>
          </a:bodyPr>
          <a:lstStyle/>
          <a:p>
            <a:r>
              <a:rPr lang="pt-BR" sz="2400" b="1" dirty="0">
                <a:solidFill>
                  <a:schemeClr val="tx1"/>
                </a:solidFill>
              </a:rPr>
              <a:t>exemplo prático: na lógica formal, o silogismo (raciocínio dedutivo estruturado) aristotélico é o precursor do </a:t>
            </a:r>
            <a:r>
              <a:rPr lang="pt-BR" sz="2400" b="1" dirty="0" err="1">
                <a:solidFill>
                  <a:schemeClr val="tx1"/>
                </a:solidFill>
              </a:rPr>
              <a:t>if-then</a:t>
            </a:r>
            <a:r>
              <a:rPr lang="pt-BR" sz="2400" b="1" dirty="0">
                <a:solidFill>
                  <a:schemeClr val="tx1"/>
                </a:solidFill>
              </a:rPr>
              <a:t>:</a:t>
            </a:r>
          </a:p>
          <a:p>
            <a:endParaRPr lang="pt-BR" sz="24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 premissa a: </a:t>
            </a:r>
            <a:r>
              <a:rPr lang="pt-BR" sz="2400" b="1" dirty="0">
                <a:solidFill>
                  <a:schemeClr val="tx1"/>
                </a:solidFill>
              </a:rPr>
              <a:t>todos os homens são mortais.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 premissa b: </a:t>
            </a:r>
            <a:r>
              <a:rPr lang="pt-BR" sz="2400" b="1" dirty="0" err="1">
                <a:solidFill>
                  <a:schemeClr val="tx1"/>
                </a:solidFill>
              </a:rPr>
              <a:t>sócrates</a:t>
            </a:r>
            <a:r>
              <a:rPr lang="pt-BR" sz="2400" b="1" dirty="0">
                <a:solidFill>
                  <a:schemeClr val="tx1"/>
                </a:solidFill>
              </a:rPr>
              <a:t> é homem.</a:t>
            </a:r>
          </a:p>
          <a:p>
            <a:endParaRPr lang="pt-BR" sz="2400" b="1" dirty="0">
              <a:solidFill>
                <a:schemeClr val="tx1"/>
              </a:solidFill>
            </a:endParaRPr>
          </a:p>
          <a:p>
            <a:r>
              <a:rPr lang="pt-BR" sz="2400" b="1" dirty="0"/>
              <a:t>conclusão: </a:t>
            </a:r>
            <a:r>
              <a:rPr lang="pt-BR" sz="2400" b="1" dirty="0" err="1">
                <a:solidFill>
                  <a:schemeClr val="tx1"/>
                </a:solidFill>
              </a:rPr>
              <a:t>sócrates</a:t>
            </a:r>
            <a:r>
              <a:rPr lang="pt-BR" sz="2400" b="1" dirty="0">
                <a:solidFill>
                  <a:schemeClr val="tx1"/>
                </a:solidFill>
              </a:rPr>
              <a:t> é mortal. na programação, transformamos isso em: se (ser == homem) então (mortal = verdadeiro).</a:t>
            </a:r>
          </a:p>
        </p:txBody>
      </p:sp>
    </p:spTree>
    <p:extLst>
      <p:ext uri="{BB962C8B-B14F-4D97-AF65-F5344CB8AC3E}">
        <p14:creationId xmlns:p14="http://schemas.microsoft.com/office/powerpoint/2010/main" val="2583929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81E64-A235-B670-5B64-B2CEA711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45A14-9483-208D-DD85-E9550738B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235A4B-7D2D-C6CC-E0FF-A741DB1C5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148378"/>
            <a:ext cx="9515925" cy="5284695"/>
          </a:xfrm>
        </p:spPr>
        <p:txBody>
          <a:bodyPr>
            <a:normAutofit lnSpcReduction="10000"/>
          </a:bodyPr>
          <a:lstStyle/>
          <a:p>
            <a:pPr algn="ctr"/>
            <a:r>
              <a:rPr lang="pt-BR" sz="2400" b="1" dirty="0"/>
              <a:t>um pouco de história: a linha do tempo do raciocínio mecanizado</a:t>
            </a:r>
          </a:p>
          <a:p>
            <a:r>
              <a:rPr lang="pt-BR" sz="1600" b="1" dirty="0">
                <a:solidFill>
                  <a:schemeClr val="tx1"/>
                </a:solidFill>
              </a:rPr>
              <a:t>a evolução da lógica de programação é a história da tentativa humana de delegar o raciocínio a máquinas: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b="1" dirty="0"/>
              <a:t>    século </a:t>
            </a:r>
            <a:r>
              <a:rPr lang="pt-BR" sz="1600" b="1" dirty="0" err="1"/>
              <a:t>xvii</a:t>
            </a:r>
            <a:r>
              <a:rPr lang="pt-BR" sz="1600" b="1" dirty="0"/>
              <a:t> - pascal e </a:t>
            </a:r>
            <a:r>
              <a:rPr lang="pt-BR" sz="1600" b="1" dirty="0" err="1"/>
              <a:t>leibniz</a:t>
            </a:r>
            <a:r>
              <a:rPr lang="pt-BR" sz="1600" b="1" dirty="0"/>
              <a:t>: </a:t>
            </a:r>
            <a:r>
              <a:rPr lang="pt-BR" sz="1600" b="1" dirty="0">
                <a:solidFill>
                  <a:schemeClr val="tx1"/>
                </a:solidFill>
              </a:rPr>
              <a:t>criação das primeiras calculadoras mecânicas. </a:t>
            </a:r>
            <a:r>
              <a:rPr lang="pt-BR" sz="1600" b="1" dirty="0" err="1">
                <a:solidFill>
                  <a:schemeClr val="tx1"/>
                </a:solidFill>
              </a:rPr>
              <a:t>leibniz</a:t>
            </a:r>
            <a:r>
              <a:rPr lang="pt-BR" sz="1600" b="1" dirty="0">
                <a:solidFill>
                  <a:schemeClr val="tx1"/>
                </a:solidFill>
              </a:rPr>
              <a:t> propõe o sistema binário e a "característica universal", uma linguagem lógica que resolveria disputas através do cálculo.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b="1" dirty="0"/>
              <a:t>    1843 - </a:t>
            </a:r>
            <a:r>
              <a:rPr lang="pt-BR" sz="1600" b="1" dirty="0">
                <a:solidFill>
                  <a:schemeClr val="tx1"/>
                </a:solidFill>
              </a:rPr>
              <a:t>ada </a:t>
            </a:r>
            <a:r>
              <a:rPr lang="pt-BR" sz="1600" b="1" dirty="0" err="1">
                <a:solidFill>
                  <a:schemeClr val="tx1"/>
                </a:solidFill>
              </a:rPr>
              <a:t>lovelace</a:t>
            </a:r>
            <a:r>
              <a:rPr lang="pt-BR" sz="1600" b="1" dirty="0">
                <a:solidFill>
                  <a:schemeClr val="tx1"/>
                </a:solidFill>
              </a:rPr>
              <a:t>: ao analisar a máquina analítica de </a:t>
            </a:r>
            <a:r>
              <a:rPr lang="pt-BR" sz="1600" b="1" dirty="0" err="1">
                <a:solidFill>
                  <a:schemeClr val="tx1"/>
                </a:solidFill>
              </a:rPr>
              <a:t>babbage</a:t>
            </a:r>
            <a:r>
              <a:rPr lang="pt-BR" sz="1600" b="1" dirty="0">
                <a:solidFill>
                  <a:schemeClr val="tx1"/>
                </a:solidFill>
              </a:rPr>
              <a:t>, </a:t>
            </a:r>
            <a:r>
              <a:rPr lang="pt-BR" sz="1600" b="1" dirty="0" err="1">
                <a:solidFill>
                  <a:schemeClr val="tx1"/>
                </a:solidFill>
              </a:rPr>
              <a:t>lovelace</a:t>
            </a:r>
            <a:r>
              <a:rPr lang="pt-BR" sz="1600" b="1" dirty="0">
                <a:solidFill>
                  <a:schemeClr val="tx1"/>
                </a:solidFill>
              </a:rPr>
              <a:t> escreve o primeiro algoritmo para computar os números de </a:t>
            </a:r>
            <a:r>
              <a:rPr lang="pt-BR" sz="1600" b="1" dirty="0" err="1">
                <a:solidFill>
                  <a:schemeClr val="tx1"/>
                </a:solidFill>
              </a:rPr>
              <a:t>bernoulli</a:t>
            </a:r>
            <a:r>
              <a:rPr lang="pt-BR" sz="1600" b="1" dirty="0">
                <a:solidFill>
                  <a:schemeClr val="tx1"/>
                </a:solidFill>
              </a:rPr>
              <a:t>. ela cita: "a máquina pode processar qualquer coisa que possa ser expressa logicamente, não apenas números".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b="1" dirty="0"/>
              <a:t>    1936 - </a:t>
            </a:r>
            <a:r>
              <a:rPr lang="pt-BR" sz="1600" b="1" dirty="0" err="1">
                <a:solidFill>
                  <a:schemeClr val="tx1"/>
                </a:solidFill>
              </a:rPr>
              <a:t>alan</a:t>
            </a:r>
            <a:r>
              <a:rPr lang="pt-BR" sz="1600" b="1" dirty="0">
                <a:solidFill>
                  <a:schemeClr val="tx1"/>
                </a:solidFill>
              </a:rPr>
              <a:t> </a:t>
            </a:r>
            <a:r>
              <a:rPr lang="pt-BR" sz="1600" b="1" dirty="0" err="1">
                <a:solidFill>
                  <a:schemeClr val="tx1"/>
                </a:solidFill>
              </a:rPr>
              <a:t>turing</a:t>
            </a:r>
            <a:r>
              <a:rPr lang="pt-BR" sz="1600" b="1" dirty="0">
                <a:solidFill>
                  <a:schemeClr val="tx1"/>
                </a:solidFill>
              </a:rPr>
              <a:t> e </a:t>
            </a:r>
            <a:r>
              <a:rPr lang="pt-BR" sz="1600" b="1" dirty="0" err="1">
                <a:solidFill>
                  <a:schemeClr val="tx1"/>
                </a:solidFill>
              </a:rPr>
              <a:t>alonzo</a:t>
            </a:r>
            <a:r>
              <a:rPr lang="pt-BR" sz="1600" b="1" dirty="0">
                <a:solidFill>
                  <a:schemeClr val="tx1"/>
                </a:solidFill>
              </a:rPr>
              <a:t> </a:t>
            </a:r>
            <a:r>
              <a:rPr lang="pt-BR" sz="1600" b="1" dirty="0" err="1">
                <a:solidFill>
                  <a:schemeClr val="tx1"/>
                </a:solidFill>
              </a:rPr>
              <a:t>church</a:t>
            </a:r>
            <a:r>
              <a:rPr lang="pt-BR" sz="1600" b="1" dirty="0">
                <a:solidFill>
                  <a:schemeClr val="tx1"/>
                </a:solidFill>
              </a:rPr>
              <a:t>: </a:t>
            </a:r>
            <a:r>
              <a:rPr lang="pt-BR" sz="1600" b="1" dirty="0" err="1">
                <a:solidFill>
                  <a:schemeClr val="tx1"/>
                </a:solidFill>
              </a:rPr>
              <a:t>turing</a:t>
            </a:r>
            <a:r>
              <a:rPr lang="pt-BR" sz="1600" b="1" dirty="0">
                <a:solidFill>
                  <a:schemeClr val="tx1"/>
                </a:solidFill>
              </a:rPr>
              <a:t> publica "</a:t>
            </a:r>
            <a:r>
              <a:rPr lang="pt-BR" sz="1600" b="1" dirty="0" err="1">
                <a:solidFill>
                  <a:schemeClr val="tx1"/>
                </a:solidFill>
              </a:rPr>
              <a:t>on</a:t>
            </a:r>
            <a:r>
              <a:rPr lang="pt-BR" sz="1600" b="1" dirty="0">
                <a:solidFill>
                  <a:schemeClr val="tx1"/>
                </a:solidFill>
              </a:rPr>
              <a:t> </a:t>
            </a:r>
            <a:r>
              <a:rPr lang="pt-BR" sz="1600" b="1" dirty="0" err="1">
                <a:solidFill>
                  <a:schemeClr val="tx1"/>
                </a:solidFill>
              </a:rPr>
              <a:t>computable</a:t>
            </a:r>
            <a:r>
              <a:rPr lang="pt-BR" sz="1600" b="1" dirty="0">
                <a:solidFill>
                  <a:schemeClr val="tx1"/>
                </a:solidFill>
              </a:rPr>
              <a:t> </a:t>
            </a:r>
            <a:r>
              <a:rPr lang="pt-BR" sz="1600" b="1" dirty="0" err="1">
                <a:solidFill>
                  <a:schemeClr val="tx1"/>
                </a:solidFill>
              </a:rPr>
              <a:t>numbers</a:t>
            </a:r>
            <a:r>
              <a:rPr lang="pt-BR" sz="1600" b="1" dirty="0">
                <a:solidFill>
                  <a:schemeClr val="tx1"/>
                </a:solidFill>
              </a:rPr>
              <a:t>", introduzindo a máquina de </a:t>
            </a:r>
            <a:r>
              <a:rPr lang="pt-BR" sz="1600" b="1" dirty="0" err="1">
                <a:solidFill>
                  <a:schemeClr val="tx1"/>
                </a:solidFill>
              </a:rPr>
              <a:t>turing</a:t>
            </a:r>
            <a:r>
              <a:rPr lang="pt-BR" sz="1600" b="1" dirty="0">
                <a:solidFill>
                  <a:schemeClr val="tx1"/>
                </a:solidFill>
              </a:rPr>
              <a:t>. simultaneamente, </a:t>
            </a:r>
            <a:r>
              <a:rPr lang="pt-BR" sz="1600" b="1" dirty="0" err="1">
                <a:solidFill>
                  <a:schemeClr val="tx1"/>
                </a:solidFill>
              </a:rPr>
              <a:t>church</a:t>
            </a:r>
            <a:r>
              <a:rPr lang="pt-BR" sz="1600" b="1" dirty="0">
                <a:solidFill>
                  <a:schemeClr val="tx1"/>
                </a:solidFill>
              </a:rPr>
              <a:t> cria o cálculo lambda. ambos provam que qualquer cálculo matemático pode ser executado por um conjunto simples de regras lógicas.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b="1" dirty="0"/>
              <a:t>    1945 - </a:t>
            </a:r>
            <a:r>
              <a:rPr lang="pt-BR" sz="1600" b="1" dirty="0">
                <a:solidFill>
                  <a:schemeClr val="tx1"/>
                </a:solidFill>
              </a:rPr>
              <a:t>arquitetura de von </a:t>
            </a:r>
            <a:r>
              <a:rPr lang="pt-BR" sz="1600" b="1" dirty="0" err="1">
                <a:solidFill>
                  <a:schemeClr val="tx1"/>
                </a:solidFill>
              </a:rPr>
              <a:t>neumann</a:t>
            </a:r>
            <a:r>
              <a:rPr lang="pt-BR" sz="1600" b="1" dirty="0">
                <a:solidFill>
                  <a:schemeClr val="tx1"/>
                </a:solidFill>
              </a:rPr>
              <a:t>: a separação entre unidade de processamento e memória, permitindo que o programa (a lógica) fosse armazenado como dado.</a:t>
            </a:r>
          </a:p>
        </p:txBody>
      </p:sp>
    </p:spTree>
    <p:extLst>
      <p:ext uri="{BB962C8B-B14F-4D97-AF65-F5344CB8AC3E}">
        <p14:creationId xmlns:p14="http://schemas.microsoft.com/office/powerpoint/2010/main" val="1734349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33CB0-DC89-317F-4AFF-26367D02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61A12-5782-C2F1-6BF8-4B94A7DB9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6A2AD7-3F4A-F75C-2504-2C97E7CA9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148378"/>
            <a:ext cx="9515925" cy="5284695"/>
          </a:xfrm>
        </p:spPr>
        <p:txBody>
          <a:bodyPr anchor="ctr">
            <a:normAutofit/>
          </a:bodyPr>
          <a:lstStyle/>
          <a:p>
            <a:pPr algn="ctr"/>
            <a:r>
              <a:rPr lang="pt-BR" sz="2400" b="1" dirty="0"/>
              <a:t>contexto acadêmico: para que serve e rumos profissionais</a:t>
            </a:r>
          </a:p>
          <a:p>
            <a:endParaRPr lang="pt-BR" sz="1600" b="1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no meio acadêmico, a disciplina de lógica e algoritmos é o alicerce de toda a ciência da computação. ela não ensina a "usar ferramentas", mas a "construir ferramentas".</a:t>
            </a:r>
          </a:p>
          <a:p>
            <a:pPr algn="ctr"/>
            <a:r>
              <a:rPr lang="pt-BR" b="1" dirty="0"/>
              <a:t>rumos e especializações: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análise de complexidade: o estudo de quanta memória e tempo um algoritmo consome (notação big 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inteligência artificial (ia): a transição da lógica simbólica (regras rígidas) para a lógica conexionista (redes neurais).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verificação formal: uso de lógica matemática para provar que um software de missão crítica (como o de um avião) nunca falhará.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computação quântica: a quebra da lógica binária (0 ou 1) para a lógica de superposição (</a:t>
            </a:r>
            <a:r>
              <a:rPr lang="pt-BR" sz="1600" b="1" dirty="0" err="1">
                <a:solidFill>
                  <a:schemeClr val="tx1"/>
                </a:solidFill>
              </a:rPr>
              <a:t>qubits</a:t>
            </a:r>
            <a:r>
              <a:rPr lang="pt-BR" sz="1600" b="1" dirty="0">
                <a:solidFill>
                  <a:schemeClr val="tx1"/>
                </a:solidFill>
              </a:rPr>
              <a:t>), exigindo novos algoritmos.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5D301D-B395-030A-532E-7048EECDF653}"/>
              </a:ext>
            </a:extLst>
          </p:cNvPr>
          <p:cNvSpPr/>
          <p:nvPr/>
        </p:nvSpPr>
        <p:spPr>
          <a:xfrm>
            <a:off x="538905" y="502920"/>
            <a:ext cx="11114190" cy="58521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A </a:t>
            </a:r>
            <a:r>
              <a:rPr lang="pt-BR" sz="2400" b="1" dirty="0"/>
              <a:t>NOTAÇÃO BIG O</a:t>
            </a:r>
            <a:r>
              <a:rPr lang="pt-BR" sz="2400" dirty="0"/>
              <a:t> (OU "GRANDE O") É A LINGUAGEM QUE UTILIZAMOS NA CIÊNCIA DA COMPUTAÇÃO PARA DESCREVER A </a:t>
            </a:r>
            <a:r>
              <a:rPr lang="pt-BR" sz="2400" b="1" dirty="0"/>
              <a:t>EFICIÊNCIA</a:t>
            </a:r>
            <a:r>
              <a:rPr lang="pt-BR" sz="2400" dirty="0"/>
              <a:t> DE UM ALGORITMO. ELA NÃO MEDE O TEMPO EM SEGUNDOS (POIS ISSO DEPENDERIA DO HARDWARE), MAS SIM COMO O TEMPO DE EXECUÇÃO OU O USO DE MEMÓRIA </a:t>
            </a:r>
            <a:r>
              <a:rPr lang="pt-BR" sz="2400" b="1" dirty="0"/>
              <a:t>CRESCE</a:t>
            </a:r>
            <a:r>
              <a:rPr lang="pt-BR" sz="2400" dirty="0"/>
              <a:t> À MEDIDA QUE A QUANTIDADE DE DADOS DE ENTRADA AUMENTA.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136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7397-3947-207D-FF27-C71C0FC3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0BFF2-F884-69F4-E70D-938670B80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F9390E-7A7F-B3A6-D04F-51D285987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148378"/>
            <a:ext cx="9515925" cy="5284695"/>
          </a:xfrm>
        </p:spPr>
        <p:txBody>
          <a:bodyPr anchor="ctr">
            <a:normAutofit/>
          </a:bodyPr>
          <a:lstStyle/>
          <a:p>
            <a:pPr algn="ctr"/>
            <a:r>
              <a:rPr lang="pt-BR" sz="2800" b="1" dirty="0"/>
              <a:t>estrutura lógica: os blocos construtivos do pensamento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b="1" dirty="0">
                <a:solidFill>
                  <a:schemeClr val="tx1"/>
                </a:solidFill>
              </a:rPr>
              <a:t>toda a complexidade do mundo digital (do </a:t>
            </a:r>
            <a:r>
              <a:rPr lang="pt-BR" b="1" dirty="0" err="1">
                <a:solidFill>
                  <a:schemeClr val="tx1"/>
                </a:solidFill>
              </a:rPr>
              <a:t>tiktok</a:t>
            </a:r>
            <a:r>
              <a:rPr lang="pt-BR" b="1" dirty="0">
                <a:solidFill>
                  <a:schemeClr val="tx1"/>
                </a:solidFill>
              </a:rPr>
              <a:t> ao sistema da </a:t>
            </a:r>
            <a:r>
              <a:rPr lang="pt-BR" b="1" dirty="0" err="1">
                <a:solidFill>
                  <a:schemeClr val="tx1"/>
                </a:solidFill>
              </a:rPr>
              <a:t>nasa</a:t>
            </a:r>
            <a:r>
              <a:rPr lang="pt-BR" b="1" dirty="0">
                <a:solidFill>
                  <a:schemeClr val="tx1"/>
                </a:solidFill>
              </a:rPr>
              <a:t>) é construída sobre apenas três estruturas:</a:t>
            </a:r>
          </a:p>
          <a:p>
            <a:pPr algn="ctr"/>
            <a:r>
              <a:rPr lang="pt-BR" sz="2800" b="1" dirty="0"/>
              <a:t>a. sequência (linearidade)</a:t>
            </a:r>
          </a:p>
          <a:p>
            <a:r>
              <a:rPr lang="pt-BR" b="1" dirty="0">
                <a:solidFill>
                  <a:schemeClr val="tx1"/>
                </a:solidFill>
              </a:rPr>
              <a:t>é a execução estrita de cima para baixo.</a:t>
            </a:r>
          </a:p>
          <a:p>
            <a:r>
              <a:rPr lang="pt-BR" b="1" dirty="0"/>
              <a:t>teoria: </a:t>
            </a:r>
            <a:r>
              <a:rPr lang="pt-BR" b="1" dirty="0">
                <a:solidFill>
                  <a:schemeClr val="tx1"/>
                </a:solidFill>
              </a:rPr>
              <a:t>a ordem dos fatores altera o produto.</a:t>
            </a:r>
          </a:p>
          <a:p>
            <a:r>
              <a:rPr lang="pt-BR" b="1" dirty="0"/>
              <a:t>demonstração: </a:t>
            </a:r>
            <a:r>
              <a:rPr lang="pt-BR" b="1" dirty="0">
                <a:solidFill>
                  <a:schemeClr val="tx1"/>
                </a:solidFill>
              </a:rPr>
              <a:t>trocar a ordem de "abrir porta" e "atravessar porta" resulta em erro catastrófico do sistema.</a:t>
            </a:r>
          </a:p>
        </p:txBody>
      </p:sp>
    </p:spTree>
    <p:extLst>
      <p:ext uri="{BB962C8B-B14F-4D97-AF65-F5344CB8AC3E}">
        <p14:creationId xmlns:p14="http://schemas.microsoft.com/office/powerpoint/2010/main" val="2234437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136B-13D7-EC1E-A5BB-093486BD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892F0-7BBE-B113-3948-8465826F5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4BC48F-9669-8F26-F061-CAE757F56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148378"/>
            <a:ext cx="9515925" cy="5284695"/>
          </a:xfrm>
        </p:spPr>
        <p:txBody>
          <a:bodyPr anchor="ctr">
            <a:normAutofit fontScale="77500" lnSpcReduction="20000"/>
          </a:bodyPr>
          <a:lstStyle/>
          <a:p>
            <a:pPr algn="ctr"/>
            <a:r>
              <a:rPr lang="pt-BR" sz="2800" b="1" dirty="0"/>
              <a:t>estrutura lógica: os blocos construtivos do pensamento</a:t>
            </a:r>
          </a:p>
          <a:p>
            <a:endParaRPr lang="pt-BR" sz="1800" b="1" dirty="0"/>
          </a:p>
          <a:p>
            <a:pPr algn="ctr"/>
            <a:r>
              <a:rPr lang="pt-BR" sz="3300" b="1" dirty="0"/>
              <a:t>b. seleção (bifurcação)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b="1" dirty="0">
                <a:solidFill>
                  <a:schemeClr val="tx1"/>
                </a:solidFill>
              </a:rPr>
              <a:t>é a implementação do livre arbítrio da máquina baseado em condições booleanas.</a:t>
            </a:r>
          </a:p>
          <a:p>
            <a:r>
              <a:rPr lang="pt-BR" b="1" dirty="0"/>
              <a:t>citação técnica: </a:t>
            </a:r>
            <a:r>
              <a:rPr lang="pt-BR" b="1" dirty="0">
                <a:solidFill>
                  <a:schemeClr val="tx1"/>
                </a:solidFill>
              </a:rPr>
              <a:t>"a seleção permite que o fluxo de controle divirja baseado no estado atual do sistema" (</a:t>
            </a:r>
            <a:r>
              <a:rPr lang="pt-BR" b="1" dirty="0" err="1">
                <a:solidFill>
                  <a:schemeClr val="tx1"/>
                </a:solidFill>
              </a:rPr>
              <a:t>dijkstra</a:t>
            </a:r>
            <a:r>
              <a:rPr lang="pt-BR" b="1" dirty="0">
                <a:solidFill>
                  <a:schemeClr val="tx1"/>
                </a:solidFill>
              </a:rPr>
              <a:t>).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sz="3100" b="1" dirty="0"/>
              <a:t>c. repetição (iteração/recursão)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b="1" dirty="0">
                <a:solidFill>
                  <a:schemeClr val="tx1"/>
                </a:solidFill>
              </a:rPr>
              <a:t>a capacidade de processar volumes massivos de dados reutilizando o mesmo bloco lógico.</a:t>
            </a:r>
          </a:p>
          <a:p>
            <a:r>
              <a:rPr lang="pt-BR" b="1" dirty="0"/>
              <a:t>conceito: </a:t>
            </a:r>
            <a:r>
              <a:rPr lang="pt-BR" b="1" dirty="0">
                <a:solidFill>
                  <a:schemeClr val="tx1"/>
                </a:solidFill>
              </a:rPr>
              <a:t>o loop é a base da eficiência. a máquina supera o homem não pela inteligência, mas pela capacidade de repetir a lógica sem fadiga ou erro de precisão.</a:t>
            </a:r>
          </a:p>
        </p:txBody>
      </p:sp>
    </p:spTree>
    <p:extLst>
      <p:ext uri="{BB962C8B-B14F-4D97-AF65-F5344CB8AC3E}">
        <p14:creationId xmlns:p14="http://schemas.microsoft.com/office/powerpoint/2010/main" val="3500126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909D-E4D8-9C60-40ED-6D3B07B5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3440F-D6EA-C1F0-D93F-9B96281C8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9220A8-E030-CE5C-E02B-551B3DCC3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148378"/>
            <a:ext cx="9515925" cy="5284695"/>
          </a:xfrm>
        </p:spPr>
        <p:txBody>
          <a:bodyPr anchor="ctr">
            <a:normAutofit fontScale="77500" lnSpcReduction="20000"/>
          </a:bodyPr>
          <a:lstStyle/>
          <a:p>
            <a:pPr algn="ctr"/>
            <a:r>
              <a:rPr lang="pt-BR" sz="2800" b="1" dirty="0"/>
              <a:t>estrutura lógica: os blocos construtivos do pensamento</a:t>
            </a:r>
          </a:p>
          <a:p>
            <a:endParaRPr lang="pt-BR" sz="1800" b="1" dirty="0"/>
          </a:p>
          <a:p>
            <a:pPr algn="ctr"/>
            <a:r>
              <a:rPr lang="pt-BR" sz="3300" b="1" dirty="0"/>
              <a:t>b. seleção (bifurcação)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b="1" dirty="0">
                <a:solidFill>
                  <a:schemeClr val="tx1"/>
                </a:solidFill>
              </a:rPr>
              <a:t>é a implementação do livre arbítrio da máquina baseado em condições booleanas.</a:t>
            </a:r>
          </a:p>
          <a:p>
            <a:r>
              <a:rPr lang="pt-BR" b="1" dirty="0"/>
              <a:t>citação técnica: </a:t>
            </a:r>
            <a:r>
              <a:rPr lang="pt-BR" b="1" dirty="0">
                <a:solidFill>
                  <a:schemeClr val="tx1"/>
                </a:solidFill>
              </a:rPr>
              <a:t>"a seleção permite que o fluxo de controle divirja baseado no estado atual do sistema" (</a:t>
            </a:r>
            <a:r>
              <a:rPr lang="pt-BR" b="1" dirty="0" err="1">
                <a:solidFill>
                  <a:schemeClr val="tx1"/>
                </a:solidFill>
              </a:rPr>
              <a:t>dijkstra</a:t>
            </a:r>
            <a:r>
              <a:rPr lang="pt-BR" b="1" dirty="0">
                <a:solidFill>
                  <a:schemeClr val="tx1"/>
                </a:solidFill>
              </a:rPr>
              <a:t>).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sz="3100" b="1" dirty="0"/>
              <a:t>c. repetição (iteração/recursão)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b="1" dirty="0">
                <a:solidFill>
                  <a:schemeClr val="tx1"/>
                </a:solidFill>
              </a:rPr>
              <a:t>a capacidade de processar volumes massivos de dados reutilizando o mesmo bloco lógico.</a:t>
            </a:r>
          </a:p>
          <a:p>
            <a:r>
              <a:rPr lang="pt-BR" b="1" dirty="0"/>
              <a:t>conceito: </a:t>
            </a:r>
            <a:r>
              <a:rPr lang="pt-BR" b="1" dirty="0">
                <a:solidFill>
                  <a:schemeClr val="tx1"/>
                </a:solidFill>
              </a:rPr>
              <a:t>o loop é a base da eficiência. a máquina supera o homem não pela inteligência, mas pela capacidade de repetir a lógica sem fadiga ou erro de precisão.</a:t>
            </a:r>
          </a:p>
        </p:txBody>
      </p:sp>
    </p:spTree>
    <p:extLst>
      <p:ext uri="{BB962C8B-B14F-4D97-AF65-F5344CB8AC3E}">
        <p14:creationId xmlns:p14="http://schemas.microsoft.com/office/powerpoint/2010/main" val="3101567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774EE-36B2-6709-5BA4-82953AE7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37016-1A6E-CC44-A0F9-42F54FC18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CEFE29-0090-F9AA-324F-581D79E0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255958"/>
            <a:ext cx="9515925" cy="5284695"/>
          </a:xfrm>
        </p:spPr>
        <p:txBody>
          <a:bodyPr anchor="ctr">
            <a:normAutofit fontScale="62500" lnSpcReduction="20000"/>
          </a:bodyPr>
          <a:lstStyle/>
          <a:p>
            <a:pPr algn="ctr"/>
            <a:r>
              <a:rPr lang="pt-BR" sz="5100" b="1" dirty="0"/>
              <a:t>aplicações: a lógica invisível no cotidiano</a:t>
            </a:r>
          </a:p>
          <a:p>
            <a:pPr algn="ctr"/>
            <a:endParaRPr lang="pt-BR" sz="2800" b="1" dirty="0">
              <a:solidFill>
                <a:schemeClr val="tx1"/>
              </a:solidFill>
            </a:endParaRPr>
          </a:p>
          <a:p>
            <a:r>
              <a:rPr lang="pt-BR" sz="2800" b="1" dirty="0"/>
              <a:t>sistemas embarcados: </a:t>
            </a:r>
            <a:r>
              <a:rPr lang="pt-BR" sz="2800" b="1" dirty="0">
                <a:solidFill>
                  <a:schemeClr val="tx1"/>
                </a:solidFill>
              </a:rPr>
              <a:t>a lógica que controla a injeção eletrônica de um carro ou o tempo de aquecimento de um micro-ondas.</a:t>
            </a:r>
          </a:p>
          <a:p>
            <a:endParaRPr lang="pt-BR" sz="2800" b="1" dirty="0">
              <a:solidFill>
                <a:schemeClr val="tx1"/>
              </a:solidFill>
            </a:endParaRPr>
          </a:p>
          <a:p>
            <a:r>
              <a:rPr lang="pt-BR" sz="2800" b="1" dirty="0"/>
              <a:t>algoritmos de busca: </a:t>
            </a:r>
            <a:r>
              <a:rPr lang="pt-BR" sz="2800" b="1" dirty="0">
                <a:solidFill>
                  <a:schemeClr val="tx1"/>
                </a:solidFill>
              </a:rPr>
              <a:t>como o google organiza a internet usando lógica de grafos e relevância.</a:t>
            </a:r>
          </a:p>
          <a:p>
            <a:endParaRPr lang="pt-BR" sz="2800" b="1" dirty="0">
              <a:solidFill>
                <a:schemeClr val="tx1"/>
              </a:solidFill>
            </a:endParaRPr>
          </a:p>
          <a:p>
            <a:r>
              <a:rPr lang="pt-BR" sz="2800" b="1" dirty="0"/>
              <a:t>compressão de dados: </a:t>
            </a:r>
            <a:r>
              <a:rPr lang="pt-BR" sz="2800" b="1" dirty="0">
                <a:solidFill>
                  <a:schemeClr val="tx1"/>
                </a:solidFill>
              </a:rPr>
              <a:t>a lógica por trás do jpeg ou mp3, que decide quais dados são irrelevantes e podem ser descartados sem perda de percepção humana.</a:t>
            </a:r>
          </a:p>
          <a:p>
            <a:endParaRPr lang="pt-BR" sz="2800" b="1" dirty="0">
              <a:solidFill>
                <a:schemeClr val="tx1"/>
              </a:solidFill>
            </a:endParaRPr>
          </a:p>
          <a:p>
            <a:r>
              <a:rPr lang="pt-BR" sz="2800" b="1" dirty="0"/>
              <a:t>fintechs: </a:t>
            </a:r>
            <a:r>
              <a:rPr lang="pt-BR" sz="2800" b="1" dirty="0">
                <a:solidFill>
                  <a:schemeClr val="tx1"/>
                </a:solidFill>
              </a:rPr>
              <a:t>algoritmos de análise de crédito que decidem, em milissegundos, se uma transação é fraude ou legítima.</a:t>
            </a:r>
          </a:p>
        </p:txBody>
      </p:sp>
    </p:spTree>
    <p:extLst>
      <p:ext uri="{BB962C8B-B14F-4D97-AF65-F5344CB8AC3E}">
        <p14:creationId xmlns:p14="http://schemas.microsoft.com/office/powerpoint/2010/main" val="2797001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5348B-68A2-C9A9-C194-41080367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F873F-3555-5BBF-9D98-8ECDBD0A9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2165EB-9D07-6EB8-5D5F-1E93DD824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1191410"/>
            <a:ext cx="9515925" cy="5486397"/>
          </a:xfrm>
        </p:spPr>
        <p:txBody>
          <a:bodyPr anchor="ctr">
            <a:normAutofit fontScale="32500" lnSpcReduction="20000"/>
          </a:bodyPr>
          <a:lstStyle/>
          <a:p>
            <a:pPr algn="ctr"/>
            <a:r>
              <a:rPr lang="pt-BR" sz="7400" b="1" dirty="0"/>
              <a:t>base de estudo: o que o aluno deve dominar antes de "</a:t>
            </a:r>
            <a:r>
              <a:rPr lang="pt-BR" sz="7400" b="1" dirty="0" err="1"/>
              <a:t>codar</a:t>
            </a:r>
            <a:r>
              <a:rPr lang="pt-BR" sz="7400" b="1" dirty="0"/>
              <a:t>"</a:t>
            </a:r>
            <a:endParaRPr lang="pt-BR" sz="5100" b="1" dirty="0"/>
          </a:p>
          <a:p>
            <a:pPr algn="ctr"/>
            <a:r>
              <a:rPr lang="pt-BR" sz="5500" b="1" dirty="0">
                <a:solidFill>
                  <a:schemeClr val="tx1"/>
                </a:solidFill>
              </a:rPr>
              <a:t>antes de abrir qualquer editor de código, o aluno deve fortalecer quatro pilares: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5500" b="1" dirty="0"/>
              <a:t>matemática discreta: </a:t>
            </a:r>
            <a:r>
              <a:rPr lang="pt-BR" sz="5500" b="1" dirty="0">
                <a:solidFill>
                  <a:schemeClr val="tx1"/>
                </a:solidFill>
              </a:rPr>
              <a:t>especificamente conjuntos e lógica booleana. entender as operações </a:t>
            </a:r>
            <a:r>
              <a:rPr lang="pt-BR" sz="5500" b="1" dirty="0" err="1">
                <a:solidFill>
                  <a:schemeClr val="tx1"/>
                </a:solidFill>
              </a:rPr>
              <a:t>and</a:t>
            </a:r>
            <a:r>
              <a:rPr lang="pt-BR" sz="5500" b="1" dirty="0">
                <a:solidFill>
                  <a:schemeClr val="tx1"/>
                </a:solidFill>
              </a:rPr>
              <a:t>, </a:t>
            </a:r>
            <a:r>
              <a:rPr lang="pt-BR" sz="5500" b="1" dirty="0" err="1">
                <a:solidFill>
                  <a:schemeClr val="tx1"/>
                </a:solidFill>
              </a:rPr>
              <a:t>or</a:t>
            </a:r>
            <a:r>
              <a:rPr lang="pt-BR" sz="5500" b="1" dirty="0">
                <a:solidFill>
                  <a:schemeClr val="tx1"/>
                </a:solidFill>
              </a:rPr>
              <a:t>, </a:t>
            </a:r>
            <a:r>
              <a:rPr lang="pt-BR" sz="5500" b="1" dirty="0" err="1">
                <a:solidFill>
                  <a:schemeClr val="tx1"/>
                </a:solidFill>
              </a:rPr>
              <a:t>not</a:t>
            </a:r>
            <a:r>
              <a:rPr lang="pt-BR" sz="5500" b="1" dirty="0">
                <a:solidFill>
                  <a:schemeClr val="tx1"/>
                </a:solidFill>
              </a:rPr>
              <a:t> e </a:t>
            </a:r>
            <a:r>
              <a:rPr lang="pt-BR" sz="5500" b="1" dirty="0" err="1">
                <a:solidFill>
                  <a:schemeClr val="tx1"/>
                </a:solidFill>
              </a:rPr>
              <a:t>xor</a:t>
            </a:r>
            <a:r>
              <a:rPr lang="pt-BR" sz="5500" b="1" dirty="0">
                <a:solidFill>
                  <a:schemeClr val="tx1"/>
                </a:solidFill>
              </a:rPr>
              <a:t> é mandatório.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5500" b="1" dirty="0"/>
              <a:t>interpretação de semântica: </a:t>
            </a:r>
            <a:r>
              <a:rPr lang="pt-BR" sz="5500" b="1" dirty="0">
                <a:solidFill>
                  <a:schemeClr val="tx1"/>
                </a:solidFill>
              </a:rPr>
              <a:t>a capacidade de ler um problema em português e extrair dele as variáveis (substantivos) e as ações (verbos).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5500" b="1" dirty="0"/>
              <a:t>abstração: </a:t>
            </a:r>
            <a:r>
              <a:rPr lang="pt-BR" sz="5500" b="1" dirty="0">
                <a:solidFill>
                  <a:schemeClr val="tx1"/>
                </a:solidFill>
              </a:rPr>
              <a:t>conseguir olhar para um processo físico (como uma venda em um caixa) e transformá-lo em um fluxo de dados.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5500" b="1" dirty="0"/>
              <a:t>análise de processos: </a:t>
            </a:r>
            <a:r>
              <a:rPr lang="pt-BR" sz="5500" b="1" dirty="0">
                <a:solidFill>
                  <a:schemeClr val="tx1"/>
                </a:solidFill>
              </a:rPr>
              <a:t>o hábito de decompor tarefas diárias.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5500" b="1" dirty="0"/>
              <a:t>exercício mental recomendado: </a:t>
            </a:r>
            <a:r>
              <a:rPr lang="pt-BR" sz="5500" b="1" dirty="0">
                <a:solidFill>
                  <a:schemeClr val="tx1"/>
                </a:solidFill>
              </a:rPr>
              <a:t>descreva a lógica necessária para um robô trocar um pneu, prevendo o que fazer se o macaco quebrar ou se o esteve estiver vazio (tratamento de exceção).</a:t>
            </a:r>
            <a:endParaRPr lang="pt-BR" sz="3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008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30BD7-65B2-1572-7492-CF5B96004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F4942-B7D0-3F10-A8C0-9D9459859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177" y="352314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DD8CB40-02B1-F619-CDDF-C2076B10F1D4}"/>
              </a:ext>
            </a:extLst>
          </p:cNvPr>
          <p:cNvSpPr txBox="1">
            <a:spLocks/>
          </p:cNvSpPr>
          <p:nvPr/>
        </p:nvSpPr>
        <p:spPr>
          <a:xfrm>
            <a:off x="1516043" y="2844492"/>
            <a:ext cx="9913957" cy="116901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tx2"/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6973077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0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{5CD8E117-5C12-4D2E-B1B0-C6CA9A0B9BFE}TF6d5feb1e-e145-43f1-b745-cb4b54c5ee974db0861f-e580bbd8a4c7</Template>
  <TotalTime>391</TotalTime>
  <Words>1685</Words>
  <Application>Microsoft Office PowerPoint</Application>
  <PresentationFormat>Widescreen</PresentationFormat>
  <Paragraphs>158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</vt:lpstr>
      <vt:lpstr>Tw Cen MT</vt:lpstr>
      <vt:lpstr>Circuito</vt:lpstr>
      <vt:lpstr>Bem-vindos à FAM</vt:lpstr>
      <vt:lpstr>Algoritmos e Lógica de Programação</vt:lpstr>
      <vt:lpstr>RECADOS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BALLAK - Consultoria e Treinamento Empresarial</dc:creator>
  <cp:lastModifiedBy>BALLAK - Consultoria e Treinamento Empresarial</cp:lastModifiedBy>
  <cp:revision>28</cp:revision>
  <dcterms:created xsi:type="dcterms:W3CDTF">2026-01-27T23:31:12Z</dcterms:created>
  <dcterms:modified xsi:type="dcterms:W3CDTF">2026-02-13T23:43:57Z</dcterms:modified>
</cp:coreProperties>
</file>