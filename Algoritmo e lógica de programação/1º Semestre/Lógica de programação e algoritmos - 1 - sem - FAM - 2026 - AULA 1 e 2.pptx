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84" r:id="rId4"/>
    <p:sldId id="285" r:id="rId5"/>
    <p:sldId id="286" r:id="rId6"/>
    <p:sldId id="287" r:id="rId7"/>
    <p:sldId id="288" r:id="rId8"/>
    <p:sldId id="289" r:id="rId9"/>
    <p:sldId id="290" r:id="rId10"/>
    <p:sldId id="291" r:id="rId11"/>
    <p:sldId id="292" r:id="rId12"/>
    <p:sldId id="293" r:id="rId13"/>
    <p:sldId id="294" r:id="rId14"/>
    <p:sldId id="295" r:id="rId15"/>
    <p:sldId id="296" r:id="rId16"/>
    <p:sldId id="297" r:id="rId17"/>
    <p:sldId id="298" r:id="rId18"/>
    <p:sldId id="299" r:id="rId19"/>
    <p:sldId id="283"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1" d="100"/>
          <a:sy n="71" d="100"/>
        </p:scale>
        <p:origin x="1138" y="28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pt-BR"/>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pt-BR"/>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pt-BR"/>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pt-BR"/>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pt-BR"/>
              <a:t>Clique para editar o título Mestre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2/24/2026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pt-BR"/>
              <a:t>Clique para editar o título Mestre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48A87A34-81AB-432B-8DAE-1953F412C126}" type="datetimeFigureOut">
              <a:rPr lang="en-US" dirty="0"/>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2/24/2026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1141410" y="3073397"/>
            <a:ext cx="4878391" cy="2717801"/>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6172200" y="3073397"/>
            <a:ext cx="4875210" cy="2717801"/>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2/24/2026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2/24/2026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2/24/2026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pt-BR"/>
              <a:t>Clique para editar o título Mestre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8A87A34-81AB-432B-8DAE-1953F412C126}" type="datetimeFigureOut">
              <a:rPr lang="en-US" dirty="0"/>
              <a:t>2/24/2026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8A87A34-81AB-432B-8DAE-1953F412C126}" type="datetimeFigureOut">
              <a:rPr lang="en-US" dirty="0"/>
              <a:t>2/24/2026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to Panorâmica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pt-BR"/>
              <a:t>Clique no ícone para adicionar uma imagem</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8A87A34-81AB-432B-8DAE-1953F412C126}" type="datetimeFigureOut">
              <a:rPr lang="en-US" dirty="0"/>
              <a:t>2/24/2026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pt-BR"/>
              <a:t>Clique para editar o título Mestre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8A87A34-81AB-432B-8DAE-1953F412C126}" type="datetimeFigureOut">
              <a:rPr lang="en-US" dirty="0"/>
              <a:t>2/24/2026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pt-BR"/>
              <a:t>Clique para editar o título Mestre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8A87A34-81AB-432B-8DAE-1953F412C126}" type="datetimeFigureOut">
              <a:rPr lang="en-US" dirty="0"/>
              <a:t>2/24/2026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pt-BR"/>
              <a:t>Clique para editar o título Mestre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8A87A34-81AB-432B-8DAE-1953F412C126}" type="datetimeFigureOut">
              <a:rPr lang="en-US" dirty="0"/>
              <a:t>2/24/2026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nas">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pt-BR"/>
              <a:t>Clique para editar o título Mestre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3" name="Date Placeholder 2"/>
          <p:cNvSpPr>
            <a:spLocks noGrp="1"/>
          </p:cNvSpPr>
          <p:nvPr>
            <p:ph type="dt" sz="half" idx="10"/>
          </p:nvPr>
        </p:nvSpPr>
        <p:spPr/>
        <p:txBody>
          <a:bodyPr/>
          <a:lstStyle/>
          <a:p>
            <a:fld id="{48A87A34-81AB-432B-8DAE-1953F412C126}" type="datetimeFigureOut">
              <a:rPr lang="en-US" dirty="0"/>
              <a:t>2/24/2026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nas de Imagem">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pt-BR"/>
              <a:t>Clique para editar o título Mestre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pt-BR"/>
              <a:t>Clique no ícone para adicionar uma imagem</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pt-BR"/>
              <a:t>Clique no ícone para adicionar uma imagem</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pt-BR"/>
              <a:t>Clique no ícone para adicionar uma imagem</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3" name="Date Placeholder 2"/>
          <p:cNvSpPr>
            <a:spLocks noGrp="1"/>
          </p:cNvSpPr>
          <p:nvPr>
            <p:ph type="dt" sz="half" idx="10"/>
          </p:nvPr>
        </p:nvSpPr>
        <p:spPr/>
        <p:txBody>
          <a:bodyPr/>
          <a:lstStyle/>
          <a:p>
            <a:fld id="{48A87A34-81AB-432B-8DAE-1953F412C126}" type="datetimeFigureOut">
              <a:rPr lang="en-US" dirty="0"/>
              <a:t>2/24/2026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ncho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pt-BR"/>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pt-BR"/>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pt-BR"/>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pt-BR"/>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pt-BR"/>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2/24/2026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‹nº›</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35AB9A-9AB6-8546-4796-1F22DD28A6FA}"/>
              </a:ext>
            </a:extLst>
          </p:cNvPr>
          <p:cNvSpPr>
            <a:spLocks noGrp="1"/>
          </p:cNvSpPr>
          <p:nvPr>
            <p:ph type="ctrTitle"/>
          </p:nvPr>
        </p:nvSpPr>
        <p:spPr>
          <a:xfrm>
            <a:off x="1741953" y="3526700"/>
            <a:ext cx="9913957" cy="1169016"/>
          </a:xfrm>
        </p:spPr>
        <p:txBody>
          <a:bodyPr anchor="ctr" anchorCtr="0"/>
          <a:lstStyle/>
          <a:p>
            <a:pPr algn="ctr"/>
            <a:r>
              <a:rPr lang="pt-BR" dirty="0"/>
              <a:t>Prof. Ballak</a:t>
            </a:r>
          </a:p>
        </p:txBody>
      </p:sp>
      <p:sp>
        <p:nvSpPr>
          <p:cNvPr id="3" name="Subtítulo 2">
            <a:extLst>
              <a:ext uri="{FF2B5EF4-FFF2-40B4-BE49-F238E27FC236}">
                <a16:creationId xmlns:a16="http://schemas.microsoft.com/office/drawing/2014/main" id="{120C97AD-6261-E210-F8B0-C2A574A8A808}"/>
              </a:ext>
            </a:extLst>
          </p:cNvPr>
          <p:cNvSpPr>
            <a:spLocks noGrp="1"/>
          </p:cNvSpPr>
          <p:nvPr>
            <p:ph type="subTitle" idx="1"/>
          </p:nvPr>
        </p:nvSpPr>
        <p:spPr>
          <a:xfrm>
            <a:off x="1741952" y="4695716"/>
            <a:ext cx="9913958" cy="756604"/>
          </a:xfrm>
        </p:spPr>
        <p:txBody>
          <a:bodyPr anchor="ctr" anchorCtr="0">
            <a:normAutofit fontScale="85000" lnSpcReduction="20000"/>
          </a:bodyPr>
          <a:lstStyle/>
          <a:p>
            <a:pPr algn="ctr"/>
            <a:r>
              <a:rPr lang="pt-BR" dirty="0"/>
              <a:t>Prezados discentes. Tenham todos um excelente semestre!</a:t>
            </a:r>
          </a:p>
          <a:p>
            <a:pPr algn="ctr"/>
            <a:r>
              <a:rPr lang="pt-BR" dirty="0"/>
              <a:t>SEMESTRE 1 / 2026</a:t>
            </a:r>
          </a:p>
        </p:txBody>
      </p:sp>
      <p:sp>
        <p:nvSpPr>
          <p:cNvPr id="4" name="Título 1">
            <a:extLst>
              <a:ext uri="{FF2B5EF4-FFF2-40B4-BE49-F238E27FC236}">
                <a16:creationId xmlns:a16="http://schemas.microsoft.com/office/drawing/2014/main" id="{42616294-E77E-5127-797A-B70BB6490399}"/>
              </a:ext>
            </a:extLst>
          </p:cNvPr>
          <p:cNvSpPr txBox="1">
            <a:spLocks/>
          </p:cNvSpPr>
          <p:nvPr/>
        </p:nvSpPr>
        <p:spPr>
          <a:xfrm>
            <a:off x="1666649" y="1554453"/>
            <a:ext cx="10064565" cy="1054249"/>
          </a:xfrm>
          <a:prstGeom prst="rect">
            <a:avLst/>
          </a:prstGeom>
        </p:spPr>
        <p:txBody>
          <a:bodyPr vert="horz" lIns="91440" tIns="0" rIns="91440" bIns="45720" rtlCol="0" anchor="ctr" anchorCtr="0">
            <a:noAutofit/>
          </a:bodyPr>
          <a:lstStyle>
            <a:lvl1pPr algn="l" defTabSz="914400" rtl="0" eaLnBrk="1" latinLnBrk="0" hangingPunct="1">
              <a:lnSpc>
                <a:spcPct val="90000"/>
              </a:lnSpc>
              <a:spcBef>
                <a:spcPct val="0"/>
              </a:spcBef>
              <a:buNone/>
              <a:defRPr sz="4800" kern="1200" cap="all" baseline="0">
                <a:solidFill>
                  <a:schemeClr val="tx1"/>
                </a:solidFill>
                <a:latin typeface="+mj-lt"/>
                <a:ea typeface="+mj-ea"/>
                <a:cs typeface="+mj-cs"/>
              </a:defRPr>
            </a:lvl1pPr>
          </a:lstStyle>
          <a:p>
            <a:pPr algn="ctr">
              <a:lnSpc>
                <a:spcPct val="100000"/>
              </a:lnSpc>
            </a:pPr>
            <a:r>
              <a:rPr lang="pt-BR" sz="6600" dirty="0"/>
              <a:t>Algoritmos e Lógica</a:t>
            </a:r>
          </a:p>
          <a:p>
            <a:pPr algn="ctr">
              <a:lnSpc>
                <a:spcPct val="100000"/>
              </a:lnSpc>
            </a:pPr>
            <a:r>
              <a:rPr lang="pt-BR" sz="6600" dirty="0"/>
              <a:t>de Programação</a:t>
            </a:r>
          </a:p>
        </p:txBody>
      </p:sp>
    </p:spTree>
    <p:extLst>
      <p:ext uri="{BB962C8B-B14F-4D97-AF65-F5344CB8AC3E}">
        <p14:creationId xmlns:p14="http://schemas.microsoft.com/office/powerpoint/2010/main" val="28877823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E4424-40F2-3DE9-CAB7-EE4935312E4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AE716B2-FDD6-034C-7696-5277677EB1D0}"/>
              </a:ext>
            </a:extLst>
          </p:cNvPr>
          <p:cNvSpPr>
            <a:spLocks noGrp="1"/>
          </p:cNvSpPr>
          <p:nvPr>
            <p:ph type="ctrTitle"/>
          </p:nvPr>
        </p:nvSpPr>
        <p:spPr>
          <a:xfrm>
            <a:off x="1876423" y="115645"/>
            <a:ext cx="10064565" cy="1054249"/>
          </a:xfrm>
        </p:spPr>
        <p:txBody>
          <a:bodyPr tIns="0" anchor="ctr" anchorCtr="0">
            <a:noAutofit/>
          </a:bodyPr>
          <a:lstStyle/>
          <a:p>
            <a:pPr>
              <a:lnSpc>
                <a:spcPct val="100000"/>
              </a:lnSpc>
            </a:pPr>
            <a:r>
              <a:rPr lang="pt-BR" sz="4000" dirty="0"/>
              <a:t>Algoritmos e Lógica de Programação</a:t>
            </a:r>
          </a:p>
        </p:txBody>
      </p:sp>
      <p:sp>
        <p:nvSpPr>
          <p:cNvPr id="3" name="Subtítulo 2">
            <a:extLst>
              <a:ext uri="{FF2B5EF4-FFF2-40B4-BE49-F238E27FC236}">
                <a16:creationId xmlns:a16="http://schemas.microsoft.com/office/drawing/2014/main" id="{08F78A05-ADD9-8AA4-2967-B5A6493E6083}"/>
              </a:ext>
            </a:extLst>
          </p:cNvPr>
          <p:cNvSpPr>
            <a:spLocks noGrp="1"/>
          </p:cNvSpPr>
          <p:nvPr>
            <p:ph type="subTitle" idx="1"/>
          </p:nvPr>
        </p:nvSpPr>
        <p:spPr>
          <a:xfrm>
            <a:off x="2150743" y="968189"/>
            <a:ext cx="9515925" cy="5626250"/>
          </a:xfrm>
        </p:spPr>
        <p:txBody>
          <a:bodyPr anchor="ctr">
            <a:normAutofit/>
          </a:bodyPr>
          <a:lstStyle/>
          <a:p>
            <a:pPr algn="ctr"/>
            <a:r>
              <a:rPr lang="pt-BR" sz="3000" b="1" dirty="0"/>
              <a:t>PROF. ESP. Wagner </a:t>
            </a:r>
            <a:r>
              <a:rPr lang="pt-BR" sz="3000" b="1" dirty="0" err="1"/>
              <a:t>ballak</a:t>
            </a:r>
            <a:endParaRPr lang="pt-BR" sz="3000" b="1" dirty="0"/>
          </a:p>
          <a:p>
            <a:r>
              <a:rPr lang="pt-BR" b="1" dirty="0">
                <a:solidFill>
                  <a:schemeClr val="tx1"/>
                </a:solidFill>
              </a:rPr>
              <a:t>•	Sou docente E Profissional de T.I. há 26 anos.</a:t>
            </a:r>
          </a:p>
          <a:p>
            <a:r>
              <a:rPr lang="pt-BR" b="1" dirty="0">
                <a:solidFill>
                  <a:schemeClr val="tx1"/>
                </a:solidFill>
              </a:rPr>
              <a:t>•	Administrador, Matemático e Analista de Sistemas.</a:t>
            </a:r>
          </a:p>
          <a:p>
            <a:r>
              <a:rPr lang="pt-BR" b="1" dirty="0">
                <a:solidFill>
                  <a:schemeClr val="tx1"/>
                </a:solidFill>
              </a:rPr>
              <a:t>•	CEO DA BALLAK T.I. desde o ano 2000, com expertise em 	desenvolvimento de 	soluções, atendendo a centenas de clientes 	no Brasil e no exterior.</a:t>
            </a:r>
          </a:p>
          <a:p>
            <a:r>
              <a:rPr lang="pt-BR" b="1" dirty="0">
                <a:solidFill>
                  <a:schemeClr val="tx1"/>
                </a:solidFill>
              </a:rPr>
              <a:t>•	Possuo dez formações acadêmicas completas e uma incompleta.</a:t>
            </a:r>
          </a:p>
          <a:p>
            <a:r>
              <a:rPr lang="pt-BR" b="1" dirty="0">
                <a:solidFill>
                  <a:schemeClr val="tx1"/>
                </a:solidFill>
              </a:rPr>
              <a:t>•	Possuo 4 livros publicados pela Editora Clube de Autores. </a:t>
            </a:r>
          </a:p>
          <a:p>
            <a:r>
              <a:rPr lang="pt-BR" b="1" dirty="0">
                <a:solidFill>
                  <a:schemeClr val="tx1"/>
                </a:solidFill>
              </a:rPr>
              <a:t>•	Sou instrutor nas plataformas de e-learning (educação) UDEMY, 	HOTMART e KIWIFY.</a:t>
            </a:r>
          </a:p>
          <a:p>
            <a:pPr algn="ctr"/>
            <a:r>
              <a:rPr lang="pt-BR" b="1" dirty="0">
                <a:solidFill>
                  <a:schemeClr val="tx1"/>
                </a:solidFill>
              </a:rPr>
              <a:t>PORTFÓLIOS: </a:t>
            </a:r>
            <a:r>
              <a:rPr lang="pt-BR" b="1" dirty="0"/>
              <a:t>www.ballak.pro.br   </a:t>
            </a:r>
            <a:r>
              <a:rPr lang="pt-BR" b="1" dirty="0">
                <a:solidFill>
                  <a:schemeClr val="tx1"/>
                </a:solidFill>
              </a:rPr>
              <a:t>|   </a:t>
            </a:r>
            <a:r>
              <a:rPr lang="pt-BR" b="1" dirty="0"/>
              <a:t>www.sistemasballak.tec.br</a:t>
            </a:r>
          </a:p>
        </p:txBody>
      </p:sp>
    </p:spTree>
    <p:extLst>
      <p:ext uri="{BB962C8B-B14F-4D97-AF65-F5344CB8AC3E}">
        <p14:creationId xmlns:p14="http://schemas.microsoft.com/office/powerpoint/2010/main" val="33434037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9B7D9-287A-EEF8-E5FC-FAC1318CE32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E1AE96D-3DF3-0280-D117-C792AE17B4F3}"/>
              </a:ext>
            </a:extLst>
          </p:cNvPr>
          <p:cNvSpPr>
            <a:spLocks noGrp="1"/>
          </p:cNvSpPr>
          <p:nvPr>
            <p:ph type="ctrTitle"/>
          </p:nvPr>
        </p:nvSpPr>
        <p:spPr>
          <a:xfrm>
            <a:off x="1876423" y="115645"/>
            <a:ext cx="10064565" cy="1054249"/>
          </a:xfrm>
        </p:spPr>
        <p:txBody>
          <a:bodyPr tIns="0" anchor="ctr" anchorCtr="0">
            <a:noAutofit/>
          </a:bodyPr>
          <a:lstStyle/>
          <a:p>
            <a:pPr>
              <a:lnSpc>
                <a:spcPct val="100000"/>
              </a:lnSpc>
            </a:pPr>
            <a:r>
              <a:rPr lang="pt-BR" sz="4000" dirty="0"/>
              <a:t>Algoritmos e Lógica de Programação</a:t>
            </a:r>
          </a:p>
        </p:txBody>
      </p:sp>
      <p:sp>
        <p:nvSpPr>
          <p:cNvPr id="3" name="Subtítulo 2">
            <a:extLst>
              <a:ext uri="{FF2B5EF4-FFF2-40B4-BE49-F238E27FC236}">
                <a16:creationId xmlns:a16="http://schemas.microsoft.com/office/drawing/2014/main" id="{271BB9EB-A4E3-D40D-F199-0EE02A086BF2}"/>
              </a:ext>
            </a:extLst>
          </p:cNvPr>
          <p:cNvSpPr>
            <a:spLocks noGrp="1"/>
          </p:cNvSpPr>
          <p:nvPr>
            <p:ph type="subTitle" idx="1"/>
          </p:nvPr>
        </p:nvSpPr>
        <p:spPr>
          <a:xfrm>
            <a:off x="2150743" y="968189"/>
            <a:ext cx="9515925" cy="5626250"/>
          </a:xfrm>
        </p:spPr>
        <p:txBody>
          <a:bodyPr anchor="ctr">
            <a:normAutofit/>
          </a:bodyPr>
          <a:lstStyle/>
          <a:p>
            <a:pPr algn="ctr"/>
            <a:r>
              <a:rPr lang="pt-BR" sz="3000" b="1" dirty="0"/>
              <a:t>abordagem contextual da lógica de </a:t>
            </a:r>
            <a:r>
              <a:rPr lang="pt-BR" sz="3000" b="1" dirty="0" err="1"/>
              <a:t>programaçãO</a:t>
            </a:r>
            <a:endParaRPr lang="pt-BR" sz="3000" b="1" dirty="0"/>
          </a:p>
        </p:txBody>
      </p:sp>
    </p:spTree>
    <p:extLst>
      <p:ext uri="{BB962C8B-B14F-4D97-AF65-F5344CB8AC3E}">
        <p14:creationId xmlns:p14="http://schemas.microsoft.com/office/powerpoint/2010/main" val="3379657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97521-5CE4-15C7-C1C6-A8B8FE774D4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A14DD09-A347-BD95-2C19-EA19F92ED79B}"/>
              </a:ext>
            </a:extLst>
          </p:cNvPr>
          <p:cNvSpPr>
            <a:spLocks noGrp="1"/>
          </p:cNvSpPr>
          <p:nvPr>
            <p:ph type="ctrTitle"/>
          </p:nvPr>
        </p:nvSpPr>
        <p:spPr>
          <a:xfrm>
            <a:off x="1876423" y="115645"/>
            <a:ext cx="10064565" cy="1054249"/>
          </a:xfrm>
        </p:spPr>
        <p:txBody>
          <a:bodyPr tIns="0" anchor="ctr" anchorCtr="0">
            <a:noAutofit/>
          </a:bodyPr>
          <a:lstStyle/>
          <a:p>
            <a:pPr>
              <a:lnSpc>
                <a:spcPct val="100000"/>
              </a:lnSpc>
            </a:pPr>
            <a:r>
              <a:rPr lang="pt-BR" sz="4000" dirty="0"/>
              <a:t>Algoritmos e Lógica de Programação</a:t>
            </a:r>
          </a:p>
        </p:txBody>
      </p:sp>
      <p:sp>
        <p:nvSpPr>
          <p:cNvPr id="3" name="Subtítulo 2">
            <a:extLst>
              <a:ext uri="{FF2B5EF4-FFF2-40B4-BE49-F238E27FC236}">
                <a16:creationId xmlns:a16="http://schemas.microsoft.com/office/drawing/2014/main" id="{E71C0415-2203-C727-8910-F6DEFC03B247}"/>
              </a:ext>
            </a:extLst>
          </p:cNvPr>
          <p:cNvSpPr>
            <a:spLocks noGrp="1"/>
          </p:cNvSpPr>
          <p:nvPr>
            <p:ph type="subTitle" idx="1"/>
          </p:nvPr>
        </p:nvSpPr>
        <p:spPr>
          <a:xfrm>
            <a:off x="2150743" y="968189"/>
            <a:ext cx="9515925" cy="5626250"/>
          </a:xfrm>
        </p:spPr>
        <p:txBody>
          <a:bodyPr anchor="ctr">
            <a:normAutofit fontScale="85000" lnSpcReduction="10000"/>
          </a:bodyPr>
          <a:lstStyle/>
          <a:p>
            <a:pPr algn="ctr"/>
            <a:r>
              <a:rPr lang="pt-BR" sz="3000" b="1" dirty="0"/>
              <a:t>um pouco de história</a:t>
            </a:r>
          </a:p>
          <a:p>
            <a:pPr algn="ctr"/>
            <a:endParaRPr lang="pt-BR" sz="3000" b="1" dirty="0"/>
          </a:p>
          <a:p>
            <a:pPr algn="ctr"/>
            <a:r>
              <a:rPr lang="pt-BR" sz="3000" b="1" dirty="0">
                <a:solidFill>
                  <a:schemeClr val="tx1"/>
                </a:solidFill>
              </a:rPr>
              <a:t>a lógica não nasceu nos computadores. ela remonta a </a:t>
            </a:r>
            <a:r>
              <a:rPr lang="pt-BR" sz="3000" b="1" dirty="0" err="1">
                <a:solidFill>
                  <a:schemeClr val="tx1"/>
                </a:solidFill>
              </a:rPr>
              <a:t>aristóteles</a:t>
            </a:r>
            <a:r>
              <a:rPr lang="pt-BR" sz="3000" b="1" dirty="0">
                <a:solidFill>
                  <a:schemeClr val="tx1"/>
                </a:solidFill>
              </a:rPr>
              <a:t> e sua "lógica formal", que buscava formas válidas de raciocínio. no século </a:t>
            </a:r>
            <a:r>
              <a:rPr lang="pt-BR" sz="3000" b="1" dirty="0" err="1">
                <a:solidFill>
                  <a:schemeClr val="tx1"/>
                </a:solidFill>
              </a:rPr>
              <a:t>xix</a:t>
            </a:r>
            <a:r>
              <a:rPr lang="pt-BR" sz="3000" b="1" dirty="0">
                <a:solidFill>
                  <a:schemeClr val="tx1"/>
                </a:solidFill>
              </a:rPr>
              <a:t>, </a:t>
            </a:r>
            <a:r>
              <a:rPr lang="pt-BR" sz="3000" b="1" dirty="0" err="1">
                <a:solidFill>
                  <a:schemeClr val="tx1"/>
                </a:solidFill>
              </a:rPr>
              <a:t>gottfried</a:t>
            </a:r>
            <a:r>
              <a:rPr lang="pt-BR" sz="3000" b="1" dirty="0">
                <a:solidFill>
                  <a:schemeClr val="tx1"/>
                </a:solidFill>
              </a:rPr>
              <a:t> </a:t>
            </a:r>
            <a:r>
              <a:rPr lang="pt-BR" sz="3000" b="1" dirty="0" err="1">
                <a:solidFill>
                  <a:schemeClr val="tx1"/>
                </a:solidFill>
              </a:rPr>
              <a:t>leibniz</a:t>
            </a:r>
            <a:r>
              <a:rPr lang="pt-BR" sz="3000" b="1" dirty="0">
                <a:solidFill>
                  <a:schemeClr val="tx1"/>
                </a:solidFill>
              </a:rPr>
              <a:t> sonhou com um alfabeto do pensamento humano que permitiria resolver qualquer disputa através do cálculo. mas foi </a:t>
            </a:r>
            <a:r>
              <a:rPr lang="pt-BR" sz="3000" b="1" dirty="0" err="1">
                <a:solidFill>
                  <a:schemeClr val="tx1"/>
                </a:solidFill>
              </a:rPr>
              <a:t>alan</a:t>
            </a:r>
            <a:r>
              <a:rPr lang="pt-BR" sz="3000" b="1" dirty="0">
                <a:solidFill>
                  <a:schemeClr val="tx1"/>
                </a:solidFill>
              </a:rPr>
              <a:t> </a:t>
            </a:r>
            <a:r>
              <a:rPr lang="pt-BR" sz="3000" b="1" dirty="0" err="1">
                <a:solidFill>
                  <a:schemeClr val="tx1"/>
                </a:solidFill>
              </a:rPr>
              <a:t>turing</a:t>
            </a:r>
            <a:r>
              <a:rPr lang="pt-BR" sz="3000" b="1" dirty="0">
                <a:solidFill>
                  <a:schemeClr val="tx1"/>
                </a:solidFill>
              </a:rPr>
              <a:t>, em 1936, quem formalizou que uma máquina poderia executar qualquer tarefa lógica se os passos fossem bem definidos. a lógica de programação é a evolução desse desejo humano de automatizar o intelecto.</a:t>
            </a:r>
          </a:p>
        </p:txBody>
      </p:sp>
    </p:spTree>
    <p:extLst>
      <p:ext uri="{BB962C8B-B14F-4D97-AF65-F5344CB8AC3E}">
        <p14:creationId xmlns:p14="http://schemas.microsoft.com/office/powerpoint/2010/main" val="3202140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C142B-2B8E-C577-27AE-085FB3E4570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7264110-C8A4-BD1B-B45A-47955B83FBC3}"/>
              </a:ext>
            </a:extLst>
          </p:cNvPr>
          <p:cNvSpPr>
            <a:spLocks noGrp="1"/>
          </p:cNvSpPr>
          <p:nvPr>
            <p:ph type="ctrTitle"/>
          </p:nvPr>
        </p:nvSpPr>
        <p:spPr>
          <a:xfrm>
            <a:off x="1876423" y="115645"/>
            <a:ext cx="10064565" cy="1054249"/>
          </a:xfrm>
        </p:spPr>
        <p:txBody>
          <a:bodyPr tIns="0" anchor="ctr" anchorCtr="0">
            <a:noAutofit/>
          </a:bodyPr>
          <a:lstStyle/>
          <a:p>
            <a:pPr>
              <a:lnSpc>
                <a:spcPct val="100000"/>
              </a:lnSpc>
            </a:pPr>
            <a:r>
              <a:rPr lang="pt-BR" sz="4000" dirty="0"/>
              <a:t>Algoritmos e Lógica de Programação</a:t>
            </a:r>
          </a:p>
        </p:txBody>
      </p:sp>
      <p:sp>
        <p:nvSpPr>
          <p:cNvPr id="3" name="Subtítulo 2">
            <a:extLst>
              <a:ext uri="{FF2B5EF4-FFF2-40B4-BE49-F238E27FC236}">
                <a16:creationId xmlns:a16="http://schemas.microsoft.com/office/drawing/2014/main" id="{34FA7C48-3E35-B7EB-88CB-5BB94FC0ECC9}"/>
              </a:ext>
            </a:extLst>
          </p:cNvPr>
          <p:cNvSpPr>
            <a:spLocks noGrp="1"/>
          </p:cNvSpPr>
          <p:nvPr>
            <p:ph type="subTitle" idx="1"/>
          </p:nvPr>
        </p:nvSpPr>
        <p:spPr>
          <a:xfrm>
            <a:off x="2150743" y="968189"/>
            <a:ext cx="9515925" cy="5626250"/>
          </a:xfrm>
        </p:spPr>
        <p:txBody>
          <a:bodyPr anchor="ctr">
            <a:normAutofit/>
          </a:bodyPr>
          <a:lstStyle/>
          <a:p>
            <a:pPr algn="ctr"/>
            <a:r>
              <a:rPr lang="pt-BR" sz="3000" b="1" dirty="0"/>
              <a:t>o que é?</a:t>
            </a:r>
          </a:p>
          <a:p>
            <a:pPr algn="ctr"/>
            <a:endParaRPr lang="pt-BR" sz="3000" b="1" dirty="0">
              <a:solidFill>
                <a:schemeClr val="tx1"/>
              </a:solidFill>
            </a:endParaRPr>
          </a:p>
          <a:p>
            <a:pPr algn="ctr"/>
            <a:r>
              <a:rPr lang="pt-BR" sz="3000" b="1" dirty="0">
                <a:solidFill>
                  <a:schemeClr val="tx1"/>
                </a:solidFill>
              </a:rPr>
              <a:t>é a técnica de encadear pensamentos e instruções para atingir um objetivo. não se trata de aprender comandos de uma linguagem, mas de entender as leis que regem o processamento de informações: causa e efeito, condições e repetições.</a:t>
            </a:r>
          </a:p>
        </p:txBody>
      </p:sp>
    </p:spTree>
    <p:extLst>
      <p:ext uri="{BB962C8B-B14F-4D97-AF65-F5344CB8AC3E}">
        <p14:creationId xmlns:p14="http://schemas.microsoft.com/office/powerpoint/2010/main" val="370895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F9F65-0575-9A77-F686-9D0BCF86982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ABA61D8-317C-69D9-E18E-73F60BCD987C}"/>
              </a:ext>
            </a:extLst>
          </p:cNvPr>
          <p:cNvSpPr>
            <a:spLocks noGrp="1"/>
          </p:cNvSpPr>
          <p:nvPr>
            <p:ph type="ctrTitle"/>
          </p:nvPr>
        </p:nvSpPr>
        <p:spPr>
          <a:xfrm>
            <a:off x="1876423" y="115645"/>
            <a:ext cx="10064565" cy="1054249"/>
          </a:xfrm>
        </p:spPr>
        <p:txBody>
          <a:bodyPr tIns="0" anchor="ctr" anchorCtr="0">
            <a:noAutofit/>
          </a:bodyPr>
          <a:lstStyle/>
          <a:p>
            <a:pPr>
              <a:lnSpc>
                <a:spcPct val="100000"/>
              </a:lnSpc>
            </a:pPr>
            <a:r>
              <a:rPr lang="pt-BR" sz="4000" dirty="0"/>
              <a:t>Algoritmos e Lógica de Programação</a:t>
            </a:r>
          </a:p>
        </p:txBody>
      </p:sp>
      <p:sp>
        <p:nvSpPr>
          <p:cNvPr id="3" name="Subtítulo 2">
            <a:extLst>
              <a:ext uri="{FF2B5EF4-FFF2-40B4-BE49-F238E27FC236}">
                <a16:creationId xmlns:a16="http://schemas.microsoft.com/office/drawing/2014/main" id="{7744293A-D71A-6CE6-16F2-FF35F1F9556E}"/>
              </a:ext>
            </a:extLst>
          </p:cNvPr>
          <p:cNvSpPr>
            <a:spLocks noGrp="1"/>
          </p:cNvSpPr>
          <p:nvPr>
            <p:ph type="subTitle" idx="1"/>
          </p:nvPr>
        </p:nvSpPr>
        <p:spPr>
          <a:xfrm>
            <a:off x="2150743" y="968189"/>
            <a:ext cx="9515925" cy="5626250"/>
          </a:xfrm>
        </p:spPr>
        <p:txBody>
          <a:bodyPr anchor="ctr">
            <a:normAutofit/>
          </a:bodyPr>
          <a:lstStyle/>
          <a:p>
            <a:pPr algn="ctr"/>
            <a:r>
              <a:rPr lang="pt-BR" sz="3000" b="1" dirty="0"/>
              <a:t>para o que serve?</a:t>
            </a:r>
          </a:p>
          <a:p>
            <a:pPr algn="ctr"/>
            <a:endParaRPr lang="pt-BR" sz="3000" b="1" dirty="0">
              <a:solidFill>
                <a:schemeClr val="tx1"/>
              </a:solidFill>
            </a:endParaRPr>
          </a:p>
          <a:p>
            <a:pPr algn="ctr"/>
            <a:r>
              <a:rPr lang="pt-BR" sz="3000" b="1" dirty="0">
                <a:solidFill>
                  <a:schemeClr val="tx1"/>
                </a:solidFill>
              </a:rPr>
              <a:t>serve para "alfabetizar" o programador. sem lógica, você apenas copia códigos. com lógica, você projeta soluções. ela serve para garantir que o computador faça exatamente o que você quer, sem ambiguidades.</a:t>
            </a:r>
          </a:p>
        </p:txBody>
      </p:sp>
    </p:spTree>
    <p:extLst>
      <p:ext uri="{BB962C8B-B14F-4D97-AF65-F5344CB8AC3E}">
        <p14:creationId xmlns:p14="http://schemas.microsoft.com/office/powerpoint/2010/main" val="3416331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530E8-9B44-F6A6-8C8C-8065D6C517E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5736CA1-DFA6-45A5-D215-97CD09020A5C}"/>
              </a:ext>
            </a:extLst>
          </p:cNvPr>
          <p:cNvSpPr>
            <a:spLocks noGrp="1"/>
          </p:cNvSpPr>
          <p:nvPr>
            <p:ph type="ctrTitle"/>
          </p:nvPr>
        </p:nvSpPr>
        <p:spPr>
          <a:xfrm>
            <a:off x="1876423" y="115645"/>
            <a:ext cx="10064565" cy="1054249"/>
          </a:xfrm>
        </p:spPr>
        <p:txBody>
          <a:bodyPr tIns="0" anchor="ctr" anchorCtr="0">
            <a:noAutofit/>
          </a:bodyPr>
          <a:lstStyle/>
          <a:p>
            <a:pPr>
              <a:lnSpc>
                <a:spcPct val="100000"/>
              </a:lnSpc>
            </a:pPr>
            <a:r>
              <a:rPr lang="pt-BR" sz="4000" dirty="0"/>
              <a:t>Algoritmos e Lógica de Programação</a:t>
            </a:r>
          </a:p>
        </p:txBody>
      </p:sp>
      <p:sp>
        <p:nvSpPr>
          <p:cNvPr id="3" name="Subtítulo 2">
            <a:extLst>
              <a:ext uri="{FF2B5EF4-FFF2-40B4-BE49-F238E27FC236}">
                <a16:creationId xmlns:a16="http://schemas.microsoft.com/office/drawing/2014/main" id="{84AB8354-1A6B-14D9-A32D-DC7DA7600E2F}"/>
              </a:ext>
            </a:extLst>
          </p:cNvPr>
          <p:cNvSpPr>
            <a:spLocks noGrp="1"/>
          </p:cNvSpPr>
          <p:nvPr>
            <p:ph type="subTitle" idx="1"/>
          </p:nvPr>
        </p:nvSpPr>
        <p:spPr>
          <a:xfrm>
            <a:off x="2150743" y="968189"/>
            <a:ext cx="9515925" cy="5626250"/>
          </a:xfrm>
        </p:spPr>
        <p:txBody>
          <a:bodyPr anchor="ctr">
            <a:normAutofit fontScale="77500" lnSpcReduction="20000"/>
          </a:bodyPr>
          <a:lstStyle/>
          <a:p>
            <a:pPr algn="ctr"/>
            <a:r>
              <a:rPr lang="pt-BR" sz="3000" b="1" dirty="0"/>
              <a:t>casos de uso</a:t>
            </a:r>
          </a:p>
          <a:p>
            <a:pPr algn="ctr"/>
            <a:endParaRPr lang="pt-BR" sz="3000" b="1" dirty="0"/>
          </a:p>
          <a:p>
            <a:pPr algn="ctr"/>
            <a:r>
              <a:rPr lang="pt-BR" sz="3000" b="1" dirty="0">
                <a:solidFill>
                  <a:schemeClr val="tx1"/>
                </a:solidFill>
              </a:rPr>
              <a:t> análise de crédito: decidir se um cliente recebe um empréstimo baseando-se em regras lógicas de score.</a:t>
            </a:r>
          </a:p>
          <a:p>
            <a:pPr algn="ctr"/>
            <a:r>
              <a:rPr lang="pt-BR" sz="3000" b="1" dirty="0">
                <a:solidFill>
                  <a:schemeClr val="tx1"/>
                </a:solidFill>
              </a:rPr>
              <a:t> sistemas de segurança: ativar um alarme apenas se (sensor de movimento == ativo) e (sistema == armado).</a:t>
            </a:r>
          </a:p>
          <a:p>
            <a:pPr algn="ctr"/>
            <a:endParaRPr lang="pt-BR" sz="3000" b="1" dirty="0"/>
          </a:p>
          <a:p>
            <a:pPr algn="ctr"/>
            <a:r>
              <a:rPr lang="pt-BR" sz="3000" b="1" dirty="0"/>
              <a:t> como utilizar no dia a dia?</a:t>
            </a:r>
          </a:p>
          <a:p>
            <a:pPr algn="ctr"/>
            <a:endParaRPr lang="pt-BR" sz="3000" b="1" dirty="0"/>
          </a:p>
          <a:p>
            <a:pPr algn="ctr"/>
            <a:r>
              <a:rPr lang="pt-BR" sz="3000" b="1" dirty="0">
                <a:solidFill>
                  <a:schemeClr val="tx1"/>
                </a:solidFill>
              </a:rPr>
              <a:t>utilizamos ao planejar tarefas complexas. ao decidir o trajeto para o trabalho considerando o trânsito, estamos aplicando lógica de seleção e otimização.</a:t>
            </a:r>
          </a:p>
        </p:txBody>
      </p:sp>
    </p:spTree>
    <p:extLst>
      <p:ext uri="{BB962C8B-B14F-4D97-AF65-F5344CB8AC3E}">
        <p14:creationId xmlns:p14="http://schemas.microsoft.com/office/powerpoint/2010/main" val="221585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443AB-E30F-AEC4-2559-2527D5EA081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0C9ECB8-8295-03DE-3990-0FED5F0FA6B3}"/>
              </a:ext>
            </a:extLst>
          </p:cNvPr>
          <p:cNvSpPr>
            <a:spLocks noGrp="1"/>
          </p:cNvSpPr>
          <p:nvPr>
            <p:ph type="ctrTitle"/>
          </p:nvPr>
        </p:nvSpPr>
        <p:spPr>
          <a:xfrm>
            <a:off x="1876423" y="115645"/>
            <a:ext cx="10064565" cy="1054249"/>
          </a:xfrm>
        </p:spPr>
        <p:txBody>
          <a:bodyPr tIns="0" anchor="ctr" anchorCtr="0">
            <a:noAutofit/>
          </a:bodyPr>
          <a:lstStyle/>
          <a:p>
            <a:pPr>
              <a:lnSpc>
                <a:spcPct val="100000"/>
              </a:lnSpc>
            </a:pPr>
            <a:r>
              <a:rPr lang="pt-BR" sz="4000" dirty="0"/>
              <a:t>Algoritmos e Lógica de Programação</a:t>
            </a:r>
          </a:p>
        </p:txBody>
      </p:sp>
      <p:sp>
        <p:nvSpPr>
          <p:cNvPr id="3" name="Subtítulo 2">
            <a:extLst>
              <a:ext uri="{FF2B5EF4-FFF2-40B4-BE49-F238E27FC236}">
                <a16:creationId xmlns:a16="http://schemas.microsoft.com/office/drawing/2014/main" id="{37880AD2-F348-098F-0235-AD8E04D6E6BE}"/>
              </a:ext>
            </a:extLst>
          </p:cNvPr>
          <p:cNvSpPr>
            <a:spLocks noGrp="1"/>
          </p:cNvSpPr>
          <p:nvPr>
            <p:ph type="subTitle" idx="1"/>
          </p:nvPr>
        </p:nvSpPr>
        <p:spPr>
          <a:xfrm>
            <a:off x="2150743" y="968189"/>
            <a:ext cx="9515925" cy="5626250"/>
          </a:xfrm>
        </p:spPr>
        <p:txBody>
          <a:bodyPr anchor="ctr">
            <a:normAutofit/>
          </a:bodyPr>
          <a:lstStyle/>
          <a:p>
            <a:pPr algn="ctr"/>
            <a:r>
              <a:rPr lang="pt-BR" sz="3000" b="1" dirty="0"/>
              <a:t>algoritmo (a receita do sucesso)</a:t>
            </a:r>
          </a:p>
        </p:txBody>
      </p:sp>
    </p:spTree>
    <p:extLst>
      <p:ext uri="{BB962C8B-B14F-4D97-AF65-F5344CB8AC3E}">
        <p14:creationId xmlns:p14="http://schemas.microsoft.com/office/powerpoint/2010/main" val="1167854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2E2DE-DD49-F048-2B33-F123E87569F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53B94A8-47DA-6AC7-48B4-99090B6A6FEF}"/>
              </a:ext>
            </a:extLst>
          </p:cNvPr>
          <p:cNvSpPr>
            <a:spLocks noGrp="1"/>
          </p:cNvSpPr>
          <p:nvPr>
            <p:ph type="ctrTitle"/>
          </p:nvPr>
        </p:nvSpPr>
        <p:spPr>
          <a:xfrm>
            <a:off x="1876423" y="115645"/>
            <a:ext cx="10064565" cy="1054249"/>
          </a:xfrm>
        </p:spPr>
        <p:txBody>
          <a:bodyPr tIns="0" anchor="ctr" anchorCtr="0">
            <a:noAutofit/>
          </a:bodyPr>
          <a:lstStyle/>
          <a:p>
            <a:pPr>
              <a:lnSpc>
                <a:spcPct val="100000"/>
              </a:lnSpc>
            </a:pPr>
            <a:r>
              <a:rPr lang="pt-BR" sz="4000" dirty="0"/>
              <a:t>Algoritmos e Lógica de Programação</a:t>
            </a:r>
          </a:p>
        </p:txBody>
      </p:sp>
      <p:sp>
        <p:nvSpPr>
          <p:cNvPr id="3" name="Subtítulo 2">
            <a:extLst>
              <a:ext uri="{FF2B5EF4-FFF2-40B4-BE49-F238E27FC236}">
                <a16:creationId xmlns:a16="http://schemas.microsoft.com/office/drawing/2014/main" id="{D3B4FF81-019E-C718-B69B-751F45260793}"/>
              </a:ext>
            </a:extLst>
          </p:cNvPr>
          <p:cNvSpPr>
            <a:spLocks noGrp="1"/>
          </p:cNvSpPr>
          <p:nvPr>
            <p:ph type="subTitle" idx="1"/>
          </p:nvPr>
        </p:nvSpPr>
        <p:spPr>
          <a:xfrm>
            <a:off x="2150743" y="968189"/>
            <a:ext cx="9515925" cy="5626250"/>
          </a:xfrm>
        </p:spPr>
        <p:txBody>
          <a:bodyPr anchor="ctr">
            <a:normAutofit/>
          </a:bodyPr>
          <a:lstStyle/>
          <a:p>
            <a:pPr algn="ctr"/>
            <a:r>
              <a:rPr lang="pt-BR" sz="3000" b="1" dirty="0"/>
              <a:t>um pouco de história</a:t>
            </a:r>
          </a:p>
          <a:p>
            <a:pPr algn="ctr"/>
            <a:endParaRPr lang="pt-BR" sz="3000" b="1" dirty="0"/>
          </a:p>
          <a:p>
            <a:pPr algn="ctr"/>
            <a:r>
              <a:rPr lang="pt-BR" sz="3000" b="1" dirty="0">
                <a:solidFill>
                  <a:schemeClr val="tx1"/>
                </a:solidFill>
              </a:rPr>
              <a:t>a palavra "algoritmo" deriva do nome do matemático persa al-</a:t>
            </a:r>
            <a:r>
              <a:rPr lang="pt-BR" sz="3000" b="1" dirty="0" err="1">
                <a:solidFill>
                  <a:schemeClr val="tx1"/>
                </a:solidFill>
              </a:rPr>
              <a:t>khwarizmi</a:t>
            </a:r>
            <a:r>
              <a:rPr lang="pt-BR" sz="3000" b="1" dirty="0">
                <a:solidFill>
                  <a:schemeClr val="tx1"/>
                </a:solidFill>
              </a:rPr>
              <a:t> (século </a:t>
            </a:r>
            <a:r>
              <a:rPr lang="pt-BR" sz="3000" b="1" dirty="0" err="1">
                <a:solidFill>
                  <a:schemeClr val="tx1"/>
                </a:solidFill>
              </a:rPr>
              <a:t>ix</a:t>
            </a:r>
            <a:r>
              <a:rPr lang="pt-BR" sz="3000" b="1" dirty="0">
                <a:solidFill>
                  <a:schemeClr val="tx1"/>
                </a:solidFill>
              </a:rPr>
              <a:t>). ele introduziu métodos passo a passo para resolver equações lineares e quadráticas. muito antes do silício, os algoritmos já organizavam a matemática e a astronomia.</a:t>
            </a:r>
          </a:p>
        </p:txBody>
      </p:sp>
    </p:spTree>
    <p:extLst>
      <p:ext uri="{BB962C8B-B14F-4D97-AF65-F5344CB8AC3E}">
        <p14:creationId xmlns:p14="http://schemas.microsoft.com/office/powerpoint/2010/main" val="3223510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D4AB3-E696-9E61-6610-AE08C9A3686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7F3E8D2-7798-F515-D609-86D8D9C68094}"/>
              </a:ext>
            </a:extLst>
          </p:cNvPr>
          <p:cNvSpPr>
            <a:spLocks noGrp="1"/>
          </p:cNvSpPr>
          <p:nvPr>
            <p:ph type="ctrTitle"/>
          </p:nvPr>
        </p:nvSpPr>
        <p:spPr>
          <a:xfrm>
            <a:off x="1876423" y="115645"/>
            <a:ext cx="10064565" cy="1054249"/>
          </a:xfrm>
        </p:spPr>
        <p:txBody>
          <a:bodyPr tIns="0" anchor="ctr" anchorCtr="0">
            <a:noAutofit/>
          </a:bodyPr>
          <a:lstStyle/>
          <a:p>
            <a:pPr>
              <a:lnSpc>
                <a:spcPct val="100000"/>
              </a:lnSpc>
            </a:pPr>
            <a:r>
              <a:rPr lang="pt-BR" sz="4000" dirty="0"/>
              <a:t>Algoritmos e Lógica de Programação</a:t>
            </a:r>
          </a:p>
        </p:txBody>
      </p:sp>
      <p:sp>
        <p:nvSpPr>
          <p:cNvPr id="3" name="Subtítulo 2">
            <a:extLst>
              <a:ext uri="{FF2B5EF4-FFF2-40B4-BE49-F238E27FC236}">
                <a16:creationId xmlns:a16="http://schemas.microsoft.com/office/drawing/2014/main" id="{1242DEA1-1C80-F782-AB89-01FF8AF865CC}"/>
              </a:ext>
            </a:extLst>
          </p:cNvPr>
          <p:cNvSpPr>
            <a:spLocks noGrp="1"/>
          </p:cNvSpPr>
          <p:nvPr>
            <p:ph type="subTitle" idx="1"/>
          </p:nvPr>
        </p:nvSpPr>
        <p:spPr>
          <a:xfrm>
            <a:off x="2150743" y="968189"/>
            <a:ext cx="9515925" cy="5626250"/>
          </a:xfrm>
        </p:spPr>
        <p:txBody>
          <a:bodyPr anchor="ctr">
            <a:normAutofit/>
          </a:bodyPr>
          <a:lstStyle/>
          <a:p>
            <a:pPr algn="ctr"/>
            <a:r>
              <a:rPr lang="pt-BR" sz="3000" b="1" dirty="0"/>
              <a:t>o que é?</a:t>
            </a:r>
          </a:p>
          <a:p>
            <a:pPr algn="ctr"/>
            <a:endParaRPr lang="pt-BR" sz="3000" b="1" dirty="0">
              <a:solidFill>
                <a:schemeClr val="tx1"/>
              </a:solidFill>
            </a:endParaRPr>
          </a:p>
          <a:p>
            <a:pPr algn="ctr"/>
            <a:r>
              <a:rPr lang="pt-BR" sz="3000" b="1" dirty="0">
                <a:solidFill>
                  <a:schemeClr val="tx1"/>
                </a:solidFill>
              </a:rPr>
              <a:t>é uma sequência finita de passos bem definidos e não ambíguos para realizar uma tarefa. é a "receita" puramente lógica, independente de tecnologia. um algoritmo escrito em papel deve funcionar da mesma forma que um processado por um supercomputador.</a:t>
            </a:r>
          </a:p>
        </p:txBody>
      </p:sp>
    </p:spTree>
    <p:extLst>
      <p:ext uri="{BB962C8B-B14F-4D97-AF65-F5344CB8AC3E}">
        <p14:creationId xmlns:p14="http://schemas.microsoft.com/office/powerpoint/2010/main" val="2673635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60CE2-61B1-1890-6782-568208ECCDE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23C82DA-F5DB-EB7F-F0E0-19D4A8832D2B}"/>
              </a:ext>
            </a:extLst>
          </p:cNvPr>
          <p:cNvSpPr>
            <a:spLocks noGrp="1"/>
          </p:cNvSpPr>
          <p:nvPr>
            <p:ph type="ctrTitle"/>
          </p:nvPr>
        </p:nvSpPr>
        <p:spPr>
          <a:xfrm>
            <a:off x="1876423" y="115645"/>
            <a:ext cx="10064565" cy="1054249"/>
          </a:xfrm>
        </p:spPr>
        <p:txBody>
          <a:bodyPr tIns="0" anchor="ctr" anchorCtr="0">
            <a:noAutofit/>
          </a:bodyPr>
          <a:lstStyle/>
          <a:p>
            <a:pPr>
              <a:lnSpc>
                <a:spcPct val="100000"/>
              </a:lnSpc>
            </a:pPr>
            <a:r>
              <a:rPr lang="pt-BR" sz="4000" dirty="0"/>
              <a:t>Algoritmos e Lógica de Programação</a:t>
            </a:r>
          </a:p>
        </p:txBody>
      </p:sp>
      <p:sp>
        <p:nvSpPr>
          <p:cNvPr id="3" name="Subtítulo 2">
            <a:extLst>
              <a:ext uri="{FF2B5EF4-FFF2-40B4-BE49-F238E27FC236}">
                <a16:creationId xmlns:a16="http://schemas.microsoft.com/office/drawing/2014/main" id="{D0F5EF44-1948-806C-FCAE-54FAF35C9915}"/>
              </a:ext>
            </a:extLst>
          </p:cNvPr>
          <p:cNvSpPr>
            <a:spLocks noGrp="1"/>
          </p:cNvSpPr>
          <p:nvPr>
            <p:ph type="subTitle" idx="1"/>
          </p:nvPr>
        </p:nvSpPr>
        <p:spPr>
          <a:xfrm>
            <a:off x="2150743" y="968189"/>
            <a:ext cx="9515925" cy="5626250"/>
          </a:xfrm>
        </p:spPr>
        <p:txBody>
          <a:bodyPr anchor="ctr">
            <a:normAutofit/>
          </a:bodyPr>
          <a:lstStyle/>
          <a:p>
            <a:pPr algn="ctr"/>
            <a:r>
              <a:rPr lang="pt-BR" sz="3000" b="1" dirty="0"/>
              <a:t>para o que serve?</a:t>
            </a:r>
          </a:p>
          <a:p>
            <a:pPr algn="ctr"/>
            <a:endParaRPr lang="pt-BR" sz="3000" b="1" dirty="0">
              <a:solidFill>
                <a:schemeClr val="tx1"/>
              </a:solidFill>
            </a:endParaRPr>
          </a:p>
          <a:p>
            <a:pPr algn="ctr"/>
            <a:r>
              <a:rPr lang="pt-BR" sz="3000" b="1" dirty="0">
                <a:solidFill>
                  <a:schemeClr val="tx1"/>
                </a:solidFill>
              </a:rPr>
              <a:t>serve para padronizar processos. na engenharia de software, o algoritmo é o projeto. ele serve para que o desenvolvedor resolva o problema na mente antes de gastar tempo digitando no teclado.</a:t>
            </a:r>
          </a:p>
        </p:txBody>
      </p:sp>
    </p:spTree>
    <p:extLst>
      <p:ext uri="{BB962C8B-B14F-4D97-AF65-F5344CB8AC3E}">
        <p14:creationId xmlns:p14="http://schemas.microsoft.com/office/powerpoint/2010/main" val="2780611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BD24D-3D6E-D1EC-E15C-E6BA7FEA907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3F944BF-D175-B8BF-F04B-EA45A519AEDC}"/>
              </a:ext>
            </a:extLst>
          </p:cNvPr>
          <p:cNvSpPr>
            <a:spLocks noGrp="1"/>
          </p:cNvSpPr>
          <p:nvPr>
            <p:ph type="ctrTitle"/>
          </p:nvPr>
        </p:nvSpPr>
        <p:spPr>
          <a:xfrm>
            <a:off x="1876423" y="115645"/>
            <a:ext cx="10064565" cy="1054249"/>
          </a:xfrm>
        </p:spPr>
        <p:txBody>
          <a:bodyPr tIns="0" anchor="ctr" anchorCtr="0">
            <a:noAutofit/>
          </a:bodyPr>
          <a:lstStyle/>
          <a:p>
            <a:pPr>
              <a:lnSpc>
                <a:spcPct val="100000"/>
              </a:lnSpc>
            </a:pPr>
            <a:r>
              <a:rPr lang="pt-BR" sz="4000" dirty="0"/>
              <a:t>Algoritmos e Lógica de Programação</a:t>
            </a:r>
          </a:p>
        </p:txBody>
      </p:sp>
      <p:sp>
        <p:nvSpPr>
          <p:cNvPr id="3" name="Subtítulo 2">
            <a:extLst>
              <a:ext uri="{FF2B5EF4-FFF2-40B4-BE49-F238E27FC236}">
                <a16:creationId xmlns:a16="http://schemas.microsoft.com/office/drawing/2014/main" id="{C219F8EB-736C-F963-4647-46B2168581DA}"/>
              </a:ext>
            </a:extLst>
          </p:cNvPr>
          <p:cNvSpPr>
            <a:spLocks noGrp="1"/>
          </p:cNvSpPr>
          <p:nvPr>
            <p:ph type="subTitle" idx="1"/>
          </p:nvPr>
        </p:nvSpPr>
        <p:spPr>
          <a:xfrm>
            <a:off x="2150743" y="968189"/>
            <a:ext cx="9515925" cy="5626250"/>
          </a:xfrm>
        </p:spPr>
        <p:txBody>
          <a:bodyPr anchor="ctr">
            <a:normAutofit fontScale="77500" lnSpcReduction="20000"/>
          </a:bodyPr>
          <a:lstStyle/>
          <a:p>
            <a:pPr algn="ctr"/>
            <a:r>
              <a:rPr lang="pt-BR" sz="3000" b="1" dirty="0"/>
              <a:t>casos de uso</a:t>
            </a:r>
          </a:p>
          <a:p>
            <a:pPr algn="ctr"/>
            <a:endParaRPr lang="pt-BR" sz="3000" b="1" dirty="0"/>
          </a:p>
          <a:p>
            <a:pPr algn="ctr"/>
            <a:r>
              <a:rPr lang="pt-BR" sz="3000" b="1" dirty="0">
                <a:solidFill>
                  <a:schemeClr val="tx1"/>
                </a:solidFill>
              </a:rPr>
              <a:t> algoritmos de busca: como o google decide qual página mostrar primeiro.</a:t>
            </a:r>
          </a:p>
          <a:p>
            <a:pPr algn="ctr"/>
            <a:r>
              <a:rPr lang="pt-BR" sz="3000" b="1" dirty="0">
                <a:solidFill>
                  <a:schemeClr val="tx1"/>
                </a:solidFill>
              </a:rPr>
              <a:t> redes sociais: o algoritmo que decide qual postagem tem mais chance de te prender na tela.</a:t>
            </a:r>
            <a:endParaRPr lang="pt-BR" sz="3000" b="1" dirty="0"/>
          </a:p>
          <a:p>
            <a:pPr algn="ctr"/>
            <a:r>
              <a:rPr lang="pt-BR" sz="3000" b="1" dirty="0"/>
              <a:t> </a:t>
            </a:r>
          </a:p>
          <a:p>
            <a:pPr algn="ctr"/>
            <a:r>
              <a:rPr lang="pt-BR" sz="3000" b="1" dirty="0"/>
              <a:t>como utilizar no dia a dia?</a:t>
            </a:r>
          </a:p>
          <a:p>
            <a:pPr algn="ctr"/>
            <a:endParaRPr lang="pt-BR" sz="3000" b="1" dirty="0"/>
          </a:p>
          <a:p>
            <a:pPr algn="ctr"/>
            <a:r>
              <a:rPr lang="pt-BR" sz="3000" b="1" dirty="0">
                <a:solidFill>
                  <a:schemeClr val="tx1"/>
                </a:solidFill>
              </a:rPr>
              <a:t>você utiliza algoritmos ao seguir uma receita de bolo ou ao montar um móvel. se você pular um passo ou inverter a ordem (</a:t>
            </a:r>
            <a:r>
              <a:rPr lang="pt-BR" sz="3000" b="1" dirty="0" err="1">
                <a:solidFill>
                  <a:schemeClr val="tx1"/>
                </a:solidFill>
              </a:rPr>
              <a:t>ex</a:t>
            </a:r>
            <a:r>
              <a:rPr lang="pt-BR" sz="3000" b="1" dirty="0">
                <a:solidFill>
                  <a:schemeClr val="tx1"/>
                </a:solidFill>
              </a:rPr>
              <a:t>: colocar o bolo no forno antes de bater a massa), o algoritmo falha.</a:t>
            </a:r>
          </a:p>
        </p:txBody>
      </p:sp>
    </p:spTree>
    <p:extLst>
      <p:ext uri="{BB962C8B-B14F-4D97-AF65-F5344CB8AC3E}">
        <p14:creationId xmlns:p14="http://schemas.microsoft.com/office/powerpoint/2010/main" val="6420758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24724-7442-18AD-3F51-A6C3ED6EAD4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1799328-CEE8-44A4-188B-36240E11B1D4}"/>
              </a:ext>
            </a:extLst>
          </p:cNvPr>
          <p:cNvSpPr>
            <a:spLocks noGrp="1"/>
          </p:cNvSpPr>
          <p:nvPr>
            <p:ph type="ctrTitle"/>
          </p:nvPr>
        </p:nvSpPr>
        <p:spPr>
          <a:xfrm>
            <a:off x="1876423" y="115645"/>
            <a:ext cx="10064565" cy="1054249"/>
          </a:xfrm>
        </p:spPr>
        <p:txBody>
          <a:bodyPr tIns="0" anchor="ctr" anchorCtr="0">
            <a:noAutofit/>
          </a:bodyPr>
          <a:lstStyle/>
          <a:p>
            <a:pPr>
              <a:lnSpc>
                <a:spcPct val="100000"/>
              </a:lnSpc>
            </a:pPr>
            <a:r>
              <a:rPr lang="pt-BR" sz="4000" dirty="0"/>
              <a:t>Algoritmos e Lógica de Programação</a:t>
            </a:r>
          </a:p>
        </p:txBody>
      </p:sp>
      <p:sp>
        <p:nvSpPr>
          <p:cNvPr id="3" name="Subtítulo 2">
            <a:extLst>
              <a:ext uri="{FF2B5EF4-FFF2-40B4-BE49-F238E27FC236}">
                <a16:creationId xmlns:a16="http://schemas.microsoft.com/office/drawing/2014/main" id="{53C983D1-BCE7-46EF-E770-39BB2B18BEFF}"/>
              </a:ext>
            </a:extLst>
          </p:cNvPr>
          <p:cNvSpPr>
            <a:spLocks noGrp="1"/>
          </p:cNvSpPr>
          <p:nvPr>
            <p:ph type="subTitle" idx="1"/>
          </p:nvPr>
        </p:nvSpPr>
        <p:spPr>
          <a:xfrm>
            <a:off x="2150743" y="968189"/>
            <a:ext cx="9515925" cy="5626250"/>
          </a:xfrm>
        </p:spPr>
        <p:txBody>
          <a:bodyPr anchor="ctr">
            <a:normAutofit/>
          </a:bodyPr>
          <a:lstStyle/>
          <a:p>
            <a:pPr algn="ctr"/>
            <a:r>
              <a:rPr lang="pt-BR" sz="3000" b="1" dirty="0"/>
              <a:t>fluxograma convencional</a:t>
            </a:r>
          </a:p>
          <a:p>
            <a:pPr algn="ctr"/>
            <a:r>
              <a:rPr lang="pt-BR" sz="3000" b="1" dirty="0"/>
              <a:t>(visualizando a lógica)</a:t>
            </a:r>
          </a:p>
        </p:txBody>
      </p:sp>
    </p:spTree>
    <p:extLst>
      <p:ext uri="{BB962C8B-B14F-4D97-AF65-F5344CB8AC3E}">
        <p14:creationId xmlns:p14="http://schemas.microsoft.com/office/powerpoint/2010/main" val="15952759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0CD3E-ABCE-0AA2-75AA-F938E24B516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C7F1EC2-D810-9E25-2C8F-F92C61B6234B}"/>
              </a:ext>
            </a:extLst>
          </p:cNvPr>
          <p:cNvSpPr>
            <a:spLocks noGrp="1"/>
          </p:cNvSpPr>
          <p:nvPr>
            <p:ph type="ctrTitle"/>
          </p:nvPr>
        </p:nvSpPr>
        <p:spPr>
          <a:xfrm>
            <a:off x="1876423" y="115645"/>
            <a:ext cx="10064565" cy="1054249"/>
          </a:xfrm>
        </p:spPr>
        <p:txBody>
          <a:bodyPr tIns="0" anchor="ctr" anchorCtr="0">
            <a:noAutofit/>
          </a:bodyPr>
          <a:lstStyle/>
          <a:p>
            <a:pPr>
              <a:lnSpc>
                <a:spcPct val="100000"/>
              </a:lnSpc>
            </a:pPr>
            <a:r>
              <a:rPr lang="pt-BR" sz="4000" dirty="0"/>
              <a:t>Algoritmos e Lógica de Programação</a:t>
            </a:r>
          </a:p>
        </p:txBody>
      </p:sp>
      <p:sp>
        <p:nvSpPr>
          <p:cNvPr id="3" name="Subtítulo 2">
            <a:extLst>
              <a:ext uri="{FF2B5EF4-FFF2-40B4-BE49-F238E27FC236}">
                <a16:creationId xmlns:a16="http://schemas.microsoft.com/office/drawing/2014/main" id="{CAE7369C-5224-8FA7-4BB5-B64033D0163C}"/>
              </a:ext>
            </a:extLst>
          </p:cNvPr>
          <p:cNvSpPr>
            <a:spLocks noGrp="1"/>
          </p:cNvSpPr>
          <p:nvPr>
            <p:ph type="subTitle" idx="1"/>
          </p:nvPr>
        </p:nvSpPr>
        <p:spPr>
          <a:xfrm>
            <a:off x="2150743" y="968189"/>
            <a:ext cx="9515925" cy="5626250"/>
          </a:xfrm>
        </p:spPr>
        <p:txBody>
          <a:bodyPr anchor="ctr">
            <a:normAutofit lnSpcReduction="10000"/>
          </a:bodyPr>
          <a:lstStyle/>
          <a:p>
            <a:pPr algn="ctr"/>
            <a:r>
              <a:rPr lang="pt-BR" sz="3000" b="1" dirty="0"/>
              <a:t>um pouco de história</a:t>
            </a:r>
          </a:p>
          <a:p>
            <a:pPr algn="ctr"/>
            <a:endParaRPr lang="pt-BR" sz="3000" b="1" dirty="0"/>
          </a:p>
          <a:p>
            <a:pPr algn="ctr"/>
            <a:r>
              <a:rPr lang="pt-BR" sz="3000" b="1" dirty="0">
                <a:solidFill>
                  <a:schemeClr val="tx1"/>
                </a:solidFill>
              </a:rPr>
              <a:t>os fluxogramas foram introduzidos por </a:t>
            </a:r>
            <a:r>
              <a:rPr lang="pt-BR" sz="3000" b="1" dirty="0" err="1">
                <a:solidFill>
                  <a:schemeClr val="tx1"/>
                </a:solidFill>
              </a:rPr>
              <a:t>frank</a:t>
            </a:r>
            <a:r>
              <a:rPr lang="pt-BR" sz="3000" b="1" dirty="0">
                <a:solidFill>
                  <a:schemeClr val="tx1"/>
                </a:solidFill>
              </a:rPr>
              <a:t> e </a:t>
            </a:r>
            <a:r>
              <a:rPr lang="pt-BR" sz="3000" b="1" dirty="0" err="1">
                <a:solidFill>
                  <a:schemeClr val="tx1"/>
                </a:solidFill>
              </a:rPr>
              <a:t>lillian</a:t>
            </a:r>
            <a:r>
              <a:rPr lang="pt-BR" sz="3000" b="1" dirty="0">
                <a:solidFill>
                  <a:schemeClr val="tx1"/>
                </a:solidFill>
              </a:rPr>
              <a:t> </a:t>
            </a:r>
            <a:r>
              <a:rPr lang="pt-BR" sz="3000" b="1" dirty="0" err="1">
                <a:solidFill>
                  <a:schemeClr val="tx1"/>
                </a:solidFill>
              </a:rPr>
              <a:t>gilbreth</a:t>
            </a:r>
            <a:r>
              <a:rPr lang="pt-BR" sz="3000" b="1" dirty="0">
                <a:solidFill>
                  <a:schemeClr val="tx1"/>
                </a:solidFill>
              </a:rPr>
              <a:t> na sociedade americana de engenheiros mecânicos (</a:t>
            </a:r>
            <a:r>
              <a:rPr lang="pt-BR" sz="3000" b="1" dirty="0" err="1">
                <a:solidFill>
                  <a:schemeClr val="tx1"/>
                </a:solidFill>
              </a:rPr>
              <a:t>asme</a:t>
            </a:r>
            <a:r>
              <a:rPr lang="pt-BR" sz="3000" b="1" dirty="0">
                <a:solidFill>
                  <a:schemeClr val="tx1"/>
                </a:solidFill>
              </a:rPr>
              <a:t>) em 1921. na década de 1940, </a:t>
            </a:r>
            <a:r>
              <a:rPr lang="pt-BR" sz="3000" b="1" dirty="0" err="1">
                <a:solidFill>
                  <a:schemeClr val="tx1"/>
                </a:solidFill>
              </a:rPr>
              <a:t>herrman</a:t>
            </a:r>
            <a:r>
              <a:rPr lang="pt-BR" sz="3000" b="1" dirty="0">
                <a:solidFill>
                  <a:schemeClr val="tx1"/>
                </a:solidFill>
              </a:rPr>
              <a:t> </a:t>
            </a:r>
            <a:r>
              <a:rPr lang="pt-BR" sz="3000" b="1" dirty="0" err="1">
                <a:solidFill>
                  <a:schemeClr val="tx1"/>
                </a:solidFill>
              </a:rPr>
              <a:t>goldstine</a:t>
            </a:r>
            <a:r>
              <a:rPr lang="pt-BR" sz="3000" b="1" dirty="0">
                <a:solidFill>
                  <a:schemeClr val="tx1"/>
                </a:solidFill>
              </a:rPr>
              <a:t> e </a:t>
            </a:r>
            <a:r>
              <a:rPr lang="pt-BR" sz="3000" b="1" dirty="0" err="1">
                <a:solidFill>
                  <a:schemeClr val="tx1"/>
                </a:solidFill>
              </a:rPr>
              <a:t>john</a:t>
            </a:r>
            <a:r>
              <a:rPr lang="pt-BR" sz="3000" b="1" dirty="0">
                <a:solidFill>
                  <a:schemeClr val="tx1"/>
                </a:solidFill>
              </a:rPr>
              <a:t> von </a:t>
            </a:r>
            <a:r>
              <a:rPr lang="pt-BR" sz="3000" b="1" dirty="0" err="1">
                <a:solidFill>
                  <a:schemeClr val="tx1"/>
                </a:solidFill>
              </a:rPr>
              <a:t>neumann</a:t>
            </a:r>
            <a:r>
              <a:rPr lang="pt-BR" sz="3000" b="1" dirty="0">
                <a:solidFill>
                  <a:schemeClr val="tx1"/>
                </a:solidFill>
              </a:rPr>
              <a:t> os adaptaram para planejar programas de computador, percebendo que visualizar o fluxo era melhor do que apenas ler textos.</a:t>
            </a:r>
          </a:p>
        </p:txBody>
      </p:sp>
    </p:spTree>
    <p:extLst>
      <p:ext uri="{BB962C8B-B14F-4D97-AF65-F5344CB8AC3E}">
        <p14:creationId xmlns:p14="http://schemas.microsoft.com/office/powerpoint/2010/main" val="5779898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F8948-3B6A-8D30-9CE5-05770631737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A5ABC65-D76D-9A87-4363-BA341ED590D8}"/>
              </a:ext>
            </a:extLst>
          </p:cNvPr>
          <p:cNvSpPr>
            <a:spLocks noGrp="1"/>
          </p:cNvSpPr>
          <p:nvPr>
            <p:ph type="ctrTitle"/>
          </p:nvPr>
        </p:nvSpPr>
        <p:spPr>
          <a:xfrm>
            <a:off x="1876423" y="115645"/>
            <a:ext cx="10064565" cy="1054249"/>
          </a:xfrm>
        </p:spPr>
        <p:txBody>
          <a:bodyPr tIns="0" anchor="ctr" anchorCtr="0">
            <a:noAutofit/>
          </a:bodyPr>
          <a:lstStyle/>
          <a:p>
            <a:pPr>
              <a:lnSpc>
                <a:spcPct val="100000"/>
              </a:lnSpc>
            </a:pPr>
            <a:r>
              <a:rPr lang="pt-BR" sz="4000" dirty="0"/>
              <a:t>Algoritmos e Lógica de Programação</a:t>
            </a:r>
          </a:p>
        </p:txBody>
      </p:sp>
      <p:sp>
        <p:nvSpPr>
          <p:cNvPr id="3" name="Subtítulo 2">
            <a:extLst>
              <a:ext uri="{FF2B5EF4-FFF2-40B4-BE49-F238E27FC236}">
                <a16:creationId xmlns:a16="http://schemas.microsoft.com/office/drawing/2014/main" id="{F45B5019-8EE3-6AA6-B884-0930D342D09A}"/>
              </a:ext>
            </a:extLst>
          </p:cNvPr>
          <p:cNvSpPr>
            <a:spLocks noGrp="1"/>
          </p:cNvSpPr>
          <p:nvPr>
            <p:ph type="subTitle" idx="1"/>
          </p:nvPr>
        </p:nvSpPr>
        <p:spPr>
          <a:xfrm>
            <a:off x="2150743" y="968189"/>
            <a:ext cx="9515925" cy="5626250"/>
          </a:xfrm>
        </p:spPr>
        <p:txBody>
          <a:bodyPr anchor="ctr">
            <a:normAutofit/>
          </a:bodyPr>
          <a:lstStyle/>
          <a:p>
            <a:pPr algn="ctr"/>
            <a:r>
              <a:rPr lang="pt-BR" sz="3000" b="1" dirty="0"/>
              <a:t>o que é?</a:t>
            </a:r>
          </a:p>
          <a:p>
            <a:pPr algn="ctr"/>
            <a:endParaRPr lang="pt-BR" sz="3000" b="1" dirty="0">
              <a:solidFill>
                <a:schemeClr val="tx1"/>
              </a:solidFill>
            </a:endParaRPr>
          </a:p>
          <a:p>
            <a:pPr algn="ctr"/>
            <a:r>
              <a:rPr lang="pt-BR" sz="3000" b="1" dirty="0">
                <a:solidFill>
                  <a:schemeClr val="tx1"/>
                </a:solidFill>
              </a:rPr>
              <a:t>é a representação gráfica de um algoritmo. utiliza símbolos geométricos padronizados (</a:t>
            </a:r>
            <a:r>
              <a:rPr lang="pt-BR" sz="3000" b="1" dirty="0" err="1">
                <a:solidFill>
                  <a:schemeClr val="tx1"/>
                </a:solidFill>
              </a:rPr>
              <a:t>ansi</a:t>
            </a:r>
            <a:r>
              <a:rPr lang="pt-BR" sz="3000" b="1" dirty="0">
                <a:solidFill>
                  <a:schemeClr val="tx1"/>
                </a:solidFill>
              </a:rPr>
              <a:t>/</a:t>
            </a:r>
            <a:r>
              <a:rPr lang="pt-BR" sz="3000" b="1" dirty="0" err="1">
                <a:solidFill>
                  <a:schemeClr val="tx1"/>
                </a:solidFill>
              </a:rPr>
              <a:t>iso</a:t>
            </a:r>
            <a:r>
              <a:rPr lang="pt-BR" sz="3000" b="1" dirty="0">
                <a:solidFill>
                  <a:schemeClr val="tx1"/>
                </a:solidFill>
              </a:rPr>
              <a:t>) onde cada forma tem um significado: o losango é decisão, o retângulo é processo, e a forma oval é o início ou fim.</a:t>
            </a:r>
          </a:p>
        </p:txBody>
      </p:sp>
    </p:spTree>
    <p:extLst>
      <p:ext uri="{BB962C8B-B14F-4D97-AF65-F5344CB8AC3E}">
        <p14:creationId xmlns:p14="http://schemas.microsoft.com/office/powerpoint/2010/main" val="5829151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F4D18-3CFE-D934-59E7-F2916BC949F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EF454B7-B03F-B7BD-8E0F-28A6C764B70E}"/>
              </a:ext>
            </a:extLst>
          </p:cNvPr>
          <p:cNvSpPr>
            <a:spLocks noGrp="1"/>
          </p:cNvSpPr>
          <p:nvPr>
            <p:ph type="ctrTitle"/>
          </p:nvPr>
        </p:nvSpPr>
        <p:spPr>
          <a:xfrm>
            <a:off x="1876423" y="115645"/>
            <a:ext cx="10064565" cy="1054249"/>
          </a:xfrm>
        </p:spPr>
        <p:txBody>
          <a:bodyPr tIns="0" anchor="ctr" anchorCtr="0">
            <a:noAutofit/>
          </a:bodyPr>
          <a:lstStyle/>
          <a:p>
            <a:pPr>
              <a:lnSpc>
                <a:spcPct val="100000"/>
              </a:lnSpc>
            </a:pPr>
            <a:r>
              <a:rPr lang="pt-BR" sz="4000" dirty="0"/>
              <a:t>Algoritmos e Lógica de Programação</a:t>
            </a:r>
          </a:p>
        </p:txBody>
      </p:sp>
      <p:sp>
        <p:nvSpPr>
          <p:cNvPr id="3" name="Subtítulo 2">
            <a:extLst>
              <a:ext uri="{FF2B5EF4-FFF2-40B4-BE49-F238E27FC236}">
                <a16:creationId xmlns:a16="http://schemas.microsoft.com/office/drawing/2014/main" id="{903F22EA-01A5-90F2-FBB0-E740D361F706}"/>
              </a:ext>
            </a:extLst>
          </p:cNvPr>
          <p:cNvSpPr>
            <a:spLocks noGrp="1"/>
          </p:cNvSpPr>
          <p:nvPr>
            <p:ph type="subTitle" idx="1"/>
          </p:nvPr>
        </p:nvSpPr>
        <p:spPr>
          <a:xfrm>
            <a:off x="2150743" y="968189"/>
            <a:ext cx="9515925" cy="5626250"/>
          </a:xfrm>
        </p:spPr>
        <p:txBody>
          <a:bodyPr anchor="ctr">
            <a:normAutofit/>
          </a:bodyPr>
          <a:lstStyle/>
          <a:p>
            <a:pPr algn="ctr"/>
            <a:r>
              <a:rPr lang="pt-BR" sz="3000" b="1" dirty="0"/>
              <a:t>para o que serve?</a:t>
            </a:r>
          </a:p>
          <a:p>
            <a:pPr algn="ctr"/>
            <a:endParaRPr lang="pt-BR" sz="3000" b="1" dirty="0">
              <a:solidFill>
                <a:schemeClr val="tx1"/>
              </a:solidFill>
            </a:endParaRPr>
          </a:p>
          <a:p>
            <a:pPr algn="ctr"/>
            <a:r>
              <a:rPr lang="pt-BR" sz="3000" b="1" dirty="0">
                <a:solidFill>
                  <a:schemeClr val="tx1"/>
                </a:solidFill>
              </a:rPr>
              <a:t>serve para comunicação. é muito mais fácil explicar um sistema complexo para um cliente ou para outro programador através de um desenho do que através de mil linhas de código. serve para identificar erros de lógica (como loops infinitos) visualmente.</a:t>
            </a:r>
          </a:p>
        </p:txBody>
      </p:sp>
    </p:spTree>
    <p:extLst>
      <p:ext uri="{BB962C8B-B14F-4D97-AF65-F5344CB8AC3E}">
        <p14:creationId xmlns:p14="http://schemas.microsoft.com/office/powerpoint/2010/main" val="35434789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765C0-A711-527E-80D3-845E15596B7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4D9BBFF-B4CB-4537-B53D-305BEFFFAF30}"/>
              </a:ext>
            </a:extLst>
          </p:cNvPr>
          <p:cNvSpPr>
            <a:spLocks noGrp="1"/>
          </p:cNvSpPr>
          <p:nvPr>
            <p:ph type="ctrTitle"/>
          </p:nvPr>
        </p:nvSpPr>
        <p:spPr>
          <a:xfrm>
            <a:off x="1876423" y="115645"/>
            <a:ext cx="10064565" cy="1054249"/>
          </a:xfrm>
        </p:spPr>
        <p:txBody>
          <a:bodyPr tIns="0" anchor="ctr" anchorCtr="0">
            <a:noAutofit/>
          </a:bodyPr>
          <a:lstStyle/>
          <a:p>
            <a:pPr>
              <a:lnSpc>
                <a:spcPct val="100000"/>
              </a:lnSpc>
            </a:pPr>
            <a:r>
              <a:rPr lang="pt-BR" sz="4000" dirty="0"/>
              <a:t>Algoritmos e Lógica de Programação</a:t>
            </a:r>
          </a:p>
        </p:txBody>
      </p:sp>
      <p:sp>
        <p:nvSpPr>
          <p:cNvPr id="3" name="Subtítulo 2">
            <a:extLst>
              <a:ext uri="{FF2B5EF4-FFF2-40B4-BE49-F238E27FC236}">
                <a16:creationId xmlns:a16="http://schemas.microsoft.com/office/drawing/2014/main" id="{2BB3A67C-5A5C-E087-0D43-AC45E5484C6C}"/>
              </a:ext>
            </a:extLst>
          </p:cNvPr>
          <p:cNvSpPr>
            <a:spLocks noGrp="1"/>
          </p:cNvSpPr>
          <p:nvPr>
            <p:ph type="subTitle" idx="1"/>
          </p:nvPr>
        </p:nvSpPr>
        <p:spPr>
          <a:xfrm>
            <a:off x="2150743" y="968189"/>
            <a:ext cx="9515925" cy="5626250"/>
          </a:xfrm>
        </p:spPr>
        <p:txBody>
          <a:bodyPr anchor="ctr">
            <a:normAutofit fontScale="70000" lnSpcReduction="20000"/>
          </a:bodyPr>
          <a:lstStyle/>
          <a:p>
            <a:pPr algn="ctr"/>
            <a:r>
              <a:rPr lang="pt-BR" sz="3000" b="1" dirty="0"/>
              <a:t>casos de uso</a:t>
            </a:r>
          </a:p>
          <a:p>
            <a:pPr algn="ctr"/>
            <a:endParaRPr lang="pt-BR" sz="3000" b="1" dirty="0"/>
          </a:p>
          <a:p>
            <a:pPr algn="ctr"/>
            <a:r>
              <a:rPr lang="pt-BR" sz="3000" b="1" dirty="0">
                <a:solidFill>
                  <a:schemeClr val="tx1"/>
                </a:solidFill>
              </a:rPr>
              <a:t>  mapeamento de processos de negócios (bpm): entender como um pedido de compra tramita em uma empresa.</a:t>
            </a:r>
          </a:p>
          <a:p>
            <a:pPr algn="ctr"/>
            <a:r>
              <a:rPr lang="pt-BR" sz="3000" b="1" dirty="0">
                <a:solidFill>
                  <a:schemeClr val="tx1"/>
                </a:solidFill>
              </a:rPr>
              <a:t> diagnóstico médico: fluxogramas que guiam médicos em prontos-socorros sobre quais exames pedir dependendo dos sintomas.</a:t>
            </a:r>
            <a:r>
              <a:rPr lang="pt-BR" sz="3000" b="1" dirty="0"/>
              <a:t> </a:t>
            </a:r>
          </a:p>
          <a:p>
            <a:pPr algn="ctr"/>
            <a:endParaRPr lang="pt-BR" sz="3000" b="1" dirty="0"/>
          </a:p>
          <a:p>
            <a:pPr algn="ctr"/>
            <a:r>
              <a:rPr lang="pt-BR" sz="3000" b="1" dirty="0"/>
              <a:t>como utilizar no dia a dia?</a:t>
            </a:r>
          </a:p>
          <a:p>
            <a:pPr algn="ctr"/>
            <a:endParaRPr lang="pt-BR" sz="3000" b="1" dirty="0"/>
          </a:p>
          <a:p>
            <a:pPr algn="ctr"/>
            <a:r>
              <a:rPr lang="pt-BR" sz="3000" b="1" dirty="0">
                <a:solidFill>
                  <a:schemeClr val="tx1"/>
                </a:solidFill>
              </a:rPr>
              <a:t>pode ser usado para desenhar processos de decisão pessoal. </a:t>
            </a:r>
            <a:r>
              <a:rPr lang="pt-BR" sz="3000" b="1" dirty="0" err="1">
                <a:solidFill>
                  <a:schemeClr val="tx1"/>
                </a:solidFill>
              </a:rPr>
              <a:t>ex</a:t>
            </a:r>
            <a:r>
              <a:rPr lang="pt-BR" sz="3000" b="1" dirty="0">
                <a:solidFill>
                  <a:schemeClr val="tx1"/>
                </a:solidFill>
              </a:rPr>
              <a:t>: "se eu ganhar mais de x, invisto; se não, poupo". desenhar isso ajuda a visualizar todos os caminhos possíveis e não ser pego de surpresa por um cenário não planejado.</a:t>
            </a:r>
          </a:p>
        </p:txBody>
      </p:sp>
    </p:spTree>
    <p:extLst>
      <p:ext uri="{BB962C8B-B14F-4D97-AF65-F5344CB8AC3E}">
        <p14:creationId xmlns:p14="http://schemas.microsoft.com/office/powerpoint/2010/main" val="4129146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5B62D-EFBC-47D7-C8B2-F695CBF1EBF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260ED94-19BC-CDDB-B26B-189A31FF1509}"/>
              </a:ext>
            </a:extLst>
          </p:cNvPr>
          <p:cNvSpPr>
            <a:spLocks noGrp="1"/>
          </p:cNvSpPr>
          <p:nvPr>
            <p:ph type="ctrTitle"/>
          </p:nvPr>
        </p:nvSpPr>
        <p:spPr>
          <a:xfrm>
            <a:off x="1876423" y="115645"/>
            <a:ext cx="10064565" cy="1054249"/>
          </a:xfrm>
        </p:spPr>
        <p:txBody>
          <a:bodyPr tIns="0" anchor="ctr" anchorCtr="0">
            <a:noAutofit/>
          </a:bodyPr>
          <a:lstStyle/>
          <a:p>
            <a:pPr>
              <a:lnSpc>
                <a:spcPct val="100000"/>
              </a:lnSpc>
            </a:pPr>
            <a:r>
              <a:rPr lang="pt-BR" sz="4000" dirty="0"/>
              <a:t>Algoritmos e Lógica de Programação</a:t>
            </a:r>
          </a:p>
        </p:txBody>
      </p:sp>
      <p:sp>
        <p:nvSpPr>
          <p:cNvPr id="3" name="Subtítulo 2">
            <a:extLst>
              <a:ext uri="{FF2B5EF4-FFF2-40B4-BE49-F238E27FC236}">
                <a16:creationId xmlns:a16="http://schemas.microsoft.com/office/drawing/2014/main" id="{AE8AB53A-3101-43D7-FC63-2E384FE81F7A}"/>
              </a:ext>
            </a:extLst>
          </p:cNvPr>
          <p:cNvSpPr>
            <a:spLocks noGrp="1"/>
          </p:cNvSpPr>
          <p:nvPr>
            <p:ph type="subTitle" idx="1"/>
          </p:nvPr>
        </p:nvSpPr>
        <p:spPr>
          <a:xfrm>
            <a:off x="2150743" y="968189"/>
            <a:ext cx="9515925" cy="5626250"/>
          </a:xfrm>
        </p:spPr>
        <p:txBody>
          <a:bodyPr anchor="ctr">
            <a:normAutofit/>
          </a:bodyPr>
          <a:lstStyle/>
          <a:p>
            <a:pPr algn="ctr"/>
            <a:r>
              <a:rPr lang="pt-BR" sz="3000" b="1" dirty="0"/>
              <a:t> resumo da simetria:</a:t>
            </a:r>
          </a:p>
          <a:p>
            <a:pPr algn="ctr"/>
            <a:endParaRPr lang="pt-BR" sz="3000" b="1" dirty="0">
              <a:solidFill>
                <a:schemeClr val="tx1"/>
              </a:solidFill>
            </a:endParaRPr>
          </a:p>
          <a:p>
            <a:pPr algn="ctr"/>
            <a:r>
              <a:rPr lang="pt-BR" sz="3000" b="1" dirty="0">
                <a:solidFill>
                  <a:schemeClr val="tx1"/>
                </a:solidFill>
              </a:rPr>
              <a:t>1. lógica: é o pensamento (a filosofia).</a:t>
            </a:r>
          </a:p>
          <a:p>
            <a:pPr algn="ctr"/>
            <a:r>
              <a:rPr lang="pt-BR" sz="3000" b="1" dirty="0">
                <a:solidFill>
                  <a:schemeClr val="tx1"/>
                </a:solidFill>
              </a:rPr>
              <a:t>2. algoritmo: é o roteiro (o texto).</a:t>
            </a:r>
          </a:p>
          <a:p>
            <a:pPr algn="ctr"/>
            <a:r>
              <a:rPr lang="pt-BR" sz="3000" b="1" dirty="0">
                <a:solidFill>
                  <a:schemeClr val="tx1"/>
                </a:solidFill>
              </a:rPr>
              <a:t>3. fluxograma: é o mapa (o desenho).</a:t>
            </a:r>
          </a:p>
        </p:txBody>
      </p:sp>
    </p:spTree>
    <p:extLst>
      <p:ext uri="{BB962C8B-B14F-4D97-AF65-F5344CB8AC3E}">
        <p14:creationId xmlns:p14="http://schemas.microsoft.com/office/powerpoint/2010/main" val="20165219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30BD7-65B2-1572-7492-CF5B9600448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07F4942-B7D0-3F10-A8C0-9D9459859ED0}"/>
              </a:ext>
            </a:extLst>
          </p:cNvPr>
          <p:cNvSpPr>
            <a:spLocks noGrp="1"/>
          </p:cNvSpPr>
          <p:nvPr>
            <p:ph type="ctrTitle"/>
          </p:nvPr>
        </p:nvSpPr>
        <p:spPr>
          <a:xfrm>
            <a:off x="1709177" y="352314"/>
            <a:ext cx="10064565" cy="1054249"/>
          </a:xfrm>
        </p:spPr>
        <p:txBody>
          <a:bodyPr tIns="0" anchor="ctr" anchorCtr="0">
            <a:noAutofit/>
          </a:bodyPr>
          <a:lstStyle/>
          <a:p>
            <a:pPr>
              <a:lnSpc>
                <a:spcPct val="100000"/>
              </a:lnSpc>
            </a:pPr>
            <a:r>
              <a:rPr lang="pt-BR" sz="4000" dirty="0"/>
              <a:t>Algoritmos e Lógica de Programação</a:t>
            </a:r>
          </a:p>
        </p:txBody>
      </p:sp>
      <p:sp>
        <p:nvSpPr>
          <p:cNvPr id="3" name="Título 1">
            <a:extLst>
              <a:ext uri="{FF2B5EF4-FFF2-40B4-BE49-F238E27FC236}">
                <a16:creationId xmlns:a16="http://schemas.microsoft.com/office/drawing/2014/main" id="{FDD8CB40-02B1-F619-CDDF-C2076B10F1D4}"/>
              </a:ext>
            </a:extLst>
          </p:cNvPr>
          <p:cNvSpPr txBox="1">
            <a:spLocks/>
          </p:cNvSpPr>
          <p:nvPr/>
        </p:nvSpPr>
        <p:spPr>
          <a:xfrm>
            <a:off x="1516043" y="2844492"/>
            <a:ext cx="9913957" cy="1169016"/>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800" kern="1200" cap="all" baseline="0">
                <a:solidFill>
                  <a:schemeClr val="tx1"/>
                </a:solidFill>
                <a:latin typeface="+mj-lt"/>
                <a:ea typeface="+mj-ea"/>
                <a:cs typeface="+mj-cs"/>
              </a:defRPr>
            </a:lvl1pPr>
          </a:lstStyle>
          <a:p>
            <a:pPr algn="ctr"/>
            <a:r>
              <a:rPr lang="pt-BR" dirty="0">
                <a:solidFill>
                  <a:schemeClr val="tx2"/>
                </a:solidFill>
              </a:rPr>
              <a:t>OBRIGADO!</a:t>
            </a:r>
          </a:p>
        </p:txBody>
      </p:sp>
    </p:spTree>
    <p:extLst>
      <p:ext uri="{BB962C8B-B14F-4D97-AF65-F5344CB8AC3E}">
        <p14:creationId xmlns:p14="http://schemas.microsoft.com/office/powerpoint/2010/main" val="269730773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o">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{5CD8E117-5C12-4D2E-B1B0-C6CA9A0B9BFE}TF6d5feb1e-e145-43f1-b745-cb4b54c5ee974db0861f-e580bbd8a4c7</Template>
  <TotalTime>411</TotalTime>
  <Words>1029</Words>
  <Application>Microsoft Office PowerPoint</Application>
  <PresentationFormat>Widescreen</PresentationFormat>
  <Paragraphs>92</Paragraphs>
  <Slides>19</Slides>
  <Notes>0</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19</vt:i4>
      </vt:variant>
    </vt:vector>
  </HeadingPairs>
  <TitlesOfParts>
    <vt:vector size="22" baseType="lpstr">
      <vt:lpstr>Arial</vt:lpstr>
      <vt:lpstr>Tw Cen MT</vt:lpstr>
      <vt:lpstr>Circuito</vt:lpstr>
      <vt:lpstr>Prof. Ballak</vt:lpstr>
      <vt:lpstr>Algoritmos e Lógica de Programação</vt:lpstr>
      <vt:lpstr>Algoritmos e Lógica de Programação</vt:lpstr>
      <vt:lpstr>Algoritmos e Lógica de Programação</vt:lpstr>
      <vt:lpstr>Algoritmos e Lógica de Programação</vt:lpstr>
      <vt:lpstr>Algoritmos e Lógica de Programação</vt:lpstr>
      <vt:lpstr>Algoritmos e Lógica de Programação</vt:lpstr>
      <vt:lpstr>Algoritmos e Lógica de Programação</vt:lpstr>
      <vt:lpstr>Algoritmos e Lógica de Programação</vt:lpstr>
      <vt:lpstr>Algoritmos e Lógica de Programação</vt:lpstr>
      <vt:lpstr>Algoritmos e Lógica de Programação</vt:lpstr>
      <vt:lpstr>Algoritmos e Lógica de Programação</vt:lpstr>
      <vt:lpstr>Algoritmos e Lógica de Programação</vt:lpstr>
      <vt:lpstr>Algoritmos e Lógica de Programação</vt:lpstr>
      <vt:lpstr>Algoritmos e Lógica de Programação</vt:lpstr>
      <vt:lpstr>Algoritmos e Lógica de Programação</vt:lpstr>
      <vt:lpstr>Algoritmos e Lógica de Programação</vt:lpstr>
      <vt:lpstr>Algoritmos e Lógica de Programação</vt:lpstr>
      <vt:lpstr>Algoritmos e Lógica de Programação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BALLAK - Consultoria e Treinamento Empresarial</dc:creator>
  <cp:lastModifiedBy>BALLAK TI, Gestão e Educação</cp:lastModifiedBy>
  <cp:revision>29</cp:revision>
  <dcterms:created xsi:type="dcterms:W3CDTF">2026-01-27T23:31:12Z</dcterms:created>
  <dcterms:modified xsi:type="dcterms:W3CDTF">2026-02-24T21:49:08Z</dcterms:modified>
</cp:coreProperties>
</file>