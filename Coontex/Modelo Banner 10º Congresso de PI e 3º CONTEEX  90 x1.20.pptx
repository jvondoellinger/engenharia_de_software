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399288" cy="43254613"/>
  <p:notesSz cx="6858000" cy="9144000"/>
  <p:defaultTextStyle>
    <a:defPPr>
      <a:defRPr lang="pt-BR"/>
    </a:defPPr>
    <a:lvl1pPr marL="0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1pPr>
    <a:lvl2pPr marL="1815678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2pPr>
    <a:lvl3pPr marL="3631357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3pPr>
    <a:lvl4pPr marL="5447035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4pPr>
    <a:lvl5pPr marL="7262713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5pPr>
    <a:lvl6pPr marL="9078392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6pPr>
    <a:lvl7pPr marL="10894070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7pPr>
    <a:lvl8pPr marL="12709749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8pPr>
    <a:lvl9pPr marL="14525427" algn="l" defTabSz="3631357" rtl="0" eaLnBrk="1" latinLnBrk="0" hangingPunct="1">
      <a:defRPr sz="714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537"/>
    <a:srgbClr val="861D82"/>
    <a:srgbClr val="7A1153"/>
    <a:srgbClr val="FFA500"/>
    <a:srgbClr val="A72F5E"/>
    <a:srgbClr val="F3A50D"/>
    <a:srgbClr val="FB6E05"/>
    <a:srgbClr val="F3A30C"/>
    <a:srgbClr val="8D2099"/>
    <a:srgbClr val="E85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0" d="100"/>
          <a:sy n="30" d="100"/>
        </p:scale>
        <p:origin x="36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A955F-54F1-48B9-A62A-CE9524539591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153C-1791-4EEF-9206-855F456FCF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58925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AA2F6-0E7B-4FF3-9EC7-8CD759ED392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143000"/>
            <a:ext cx="2311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7A42-87FE-43BE-9390-1E01A491CF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15276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1pPr>
    <a:lvl2pPr marL="1815678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2pPr>
    <a:lvl3pPr marL="3631357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3pPr>
    <a:lvl4pPr marL="5447035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4pPr>
    <a:lvl5pPr marL="7262713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5pPr>
    <a:lvl6pPr marL="9078392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6pPr>
    <a:lvl7pPr marL="10894070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7pPr>
    <a:lvl8pPr marL="12709749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8pPr>
    <a:lvl9pPr marL="14525427" algn="l" defTabSz="3631357" rtl="0" eaLnBrk="1" latinLnBrk="0" hangingPunct="1">
      <a:defRPr sz="476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8941"/>
            <a:ext cx="27539395" cy="15059013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718688"/>
            <a:ext cx="24299466" cy="10443182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735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47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83628"/>
            <a:ext cx="27944386" cy="17992714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46561"/>
            <a:ext cx="27944386" cy="9461943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00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14538"/>
            <a:ext cx="13769697" cy="2744465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14538"/>
            <a:ext cx="13769697" cy="2744465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998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2917"/>
            <a:ext cx="27944386" cy="836055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603391"/>
            <a:ext cx="13706415" cy="5196558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99949"/>
            <a:ext cx="13706415" cy="2323934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603391"/>
            <a:ext cx="13773917" cy="5196558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99949"/>
            <a:ext cx="13773917" cy="2323934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457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68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6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3641"/>
            <a:ext cx="10449614" cy="10092743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7873"/>
            <a:ext cx="16402140" cy="30738811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76384"/>
            <a:ext cx="10449614" cy="24040356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71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3641"/>
            <a:ext cx="10449614" cy="10092743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7873"/>
            <a:ext cx="16402140" cy="30738811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76384"/>
            <a:ext cx="10449614" cy="24040356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460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00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2908"/>
            <a:ext cx="6986096" cy="3665628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2908"/>
            <a:ext cx="20553298" cy="3665628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167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2917"/>
            <a:ext cx="27944386" cy="8360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14538"/>
            <a:ext cx="27944386" cy="27444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90627"/>
            <a:ext cx="7289840" cy="2302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10D35-7E8B-478F-9290-78AB4A2AD186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90627"/>
            <a:ext cx="10934760" cy="2302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90627"/>
            <a:ext cx="7289840" cy="2302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6F495-2CB0-42B3-88A5-1D99E242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3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92"/>
          <p:cNvSpPr txBox="1"/>
          <p:nvPr/>
        </p:nvSpPr>
        <p:spPr>
          <a:xfrm>
            <a:off x="9059919" y="32424687"/>
            <a:ext cx="178527" cy="460374"/>
          </a:xfrm>
          <a:prstGeom prst="rect">
            <a:avLst/>
          </a:prstGeom>
          <a:noFill/>
          <a:ln>
            <a:noFill/>
          </a:ln>
        </p:spPr>
        <p:txBody>
          <a:bodyPr lIns="90350" tIns="45175" rIns="90350" bIns="45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hape 93"/>
          <p:cNvSpPr txBox="1"/>
          <p:nvPr/>
        </p:nvSpPr>
        <p:spPr>
          <a:xfrm>
            <a:off x="-1551" y="24407144"/>
            <a:ext cx="7113184" cy="676275"/>
          </a:xfrm>
          <a:prstGeom prst="rect">
            <a:avLst/>
          </a:prstGeom>
          <a:noFill/>
          <a:ln>
            <a:noFill/>
          </a:ln>
        </p:spPr>
        <p:txBody>
          <a:bodyPr lIns="90350" tIns="45175" rIns="90350" bIns="45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</a:p>
        </p:txBody>
      </p:sp>
      <p:sp>
        <p:nvSpPr>
          <p:cNvPr id="7" name="Shape 94"/>
          <p:cNvSpPr txBox="1"/>
          <p:nvPr/>
        </p:nvSpPr>
        <p:spPr>
          <a:xfrm>
            <a:off x="15643729" y="22364700"/>
            <a:ext cx="180080" cy="1400174"/>
          </a:xfrm>
          <a:prstGeom prst="rect">
            <a:avLst/>
          </a:prstGeom>
          <a:noFill/>
          <a:ln>
            <a:noFill/>
          </a:ln>
        </p:spPr>
        <p:txBody>
          <a:bodyPr lIns="91325" tIns="45650" rIns="9132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95"/>
          <p:cNvSpPr txBox="1"/>
          <p:nvPr/>
        </p:nvSpPr>
        <p:spPr>
          <a:xfrm>
            <a:off x="2407801" y="38066662"/>
            <a:ext cx="180080" cy="384174"/>
          </a:xfrm>
          <a:prstGeom prst="rect">
            <a:avLst/>
          </a:prstGeom>
          <a:noFill/>
          <a:ln>
            <a:noFill/>
          </a:ln>
        </p:spPr>
        <p:txBody>
          <a:bodyPr lIns="91325" tIns="45650" rIns="9132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Shape 96"/>
          <p:cNvSpPr txBox="1"/>
          <p:nvPr/>
        </p:nvSpPr>
        <p:spPr>
          <a:xfrm>
            <a:off x="2407801" y="38180962"/>
            <a:ext cx="229757" cy="1030286"/>
          </a:xfrm>
          <a:prstGeom prst="rect">
            <a:avLst/>
          </a:prstGeom>
          <a:noFill/>
          <a:ln>
            <a:noFill/>
          </a:ln>
        </p:spPr>
        <p:txBody>
          <a:bodyPr lIns="91325" tIns="45650" rIns="9132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b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9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Shape 97"/>
          <p:cNvSpPr txBox="1"/>
          <p:nvPr/>
        </p:nvSpPr>
        <p:spPr>
          <a:xfrm>
            <a:off x="1224859" y="37085587"/>
            <a:ext cx="180080" cy="384174"/>
          </a:xfrm>
          <a:prstGeom prst="rect">
            <a:avLst/>
          </a:prstGeom>
          <a:noFill/>
          <a:ln>
            <a:noFill/>
          </a:ln>
        </p:spPr>
        <p:txBody>
          <a:bodyPr lIns="91325" tIns="45650" rIns="9132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98"/>
          <p:cNvSpPr txBox="1"/>
          <p:nvPr/>
        </p:nvSpPr>
        <p:spPr>
          <a:xfrm>
            <a:off x="1224859" y="37885687"/>
            <a:ext cx="180080" cy="384174"/>
          </a:xfrm>
          <a:prstGeom prst="rect">
            <a:avLst/>
          </a:prstGeom>
          <a:noFill/>
          <a:ln>
            <a:noFill/>
          </a:ln>
        </p:spPr>
        <p:txBody>
          <a:bodyPr lIns="91325" tIns="45650" rIns="9132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Shape 99"/>
          <p:cNvSpPr txBox="1"/>
          <p:nvPr/>
        </p:nvSpPr>
        <p:spPr>
          <a:xfrm>
            <a:off x="1224859" y="37885687"/>
            <a:ext cx="180080" cy="384174"/>
          </a:xfrm>
          <a:prstGeom prst="rect">
            <a:avLst/>
          </a:prstGeom>
          <a:noFill/>
          <a:ln>
            <a:noFill/>
          </a:ln>
        </p:spPr>
        <p:txBody>
          <a:bodyPr lIns="91325" tIns="45650" rIns="9132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00"/>
          <p:cNvSpPr txBox="1"/>
          <p:nvPr/>
        </p:nvSpPr>
        <p:spPr>
          <a:xfrm>
            <a:off x="1224859" y="37885687"/>
            <a:ext cx="180080" cy="384174"/>
          </a:xfrm>
          <a:prstGeom prst="rect">
            <a:avLst/>
          </a:prstGeom>
          <a:noFill/>
          <a:ln>
            <a:noFill/>
          </a:ln>
        </p:spPr>
        <p:txBody>
          <a:bodyPr lIns="91325" tIns="45650" rIns="9132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Shape 101"/>
          <p:cNvSpPr txBox="1"/>
          <p:nvPr/>
        </p:nvSpPr>
        <p:spPr>
          <a:xfrm>
            <a:off x="2083347" y="25691432"/>
            <a:ext cx="12874212" cy="676275"/>
          </a:xfrm>
          <a:prstGeom prst="rect">
            <a:avLst/>
          </a:prstGeom>
          <a:noFill/>
          <a:ln>
            <a:noFill/>
          </a:ln>
        </p:spPr>
        <p:txBody>
          <a:bodyPr lIns="91375" tIns="45675" rIns="91375" bIns="456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</p:txBody>
      </p:sp>
      <p:sp>
        <p:nvSpPr>
          <p:cNvPr id="15" name="Shape 102"/>
          <p:cNvSpPr txBox="1"/>
          <p:nvPr/>
        </p:nvSpPr>
        <p:spPr>
          <a:xfrm>
            <a:off x="16754161" y="11905552"/>
            <a:ext cx="14575266" cy="5537454"/>
          </a:xfrm>
          <a:prstGeom prst="rect">
            <a:avLst/>
          </a:prstGeom>
          <a:noFill/>
          <a:ln>
            <a:noFill/>
          </a:ln>
        </p:spPr>
        <p:txBody>
          <a:bodyPr lIns="91375" tIns="45675" rIns="91375" bIns="45675" anchor="t" anchorCtr="0">
            <a:noAutofit/>
          </a:bodyPr>
          <a:lstStyle/>
          <a:p>
            <a:pPr lvl="0" algn="just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Os resultados obtidos devem ser apresentados de forma sucinta. </a:t>
            </a:r>
          </a:p>
          <a:p>
            <a:pPr lvl="0" algn="ctr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Figura 2. Tela do APP</a:t>
            </a:r>
          </a:p>
        </p:txBody>
      </p:sp>
      <p:sp>
        <p:nvSpPr>
          <p:cNvPr id="16" name="Shape 103"/>
          <p:cNvSpPr txBox="1"/>
          <p:nvPr/>
        </p:nvSpPr>
        <p:spPr>
          <a:xfrm>
            <a:off x="1119162" y="11764978"/>
            <a:ext cx="14828227" cy="4227404"/>
          </a:xfrm>
          <a:prstGeom prst="rect">
            <a:avLst/>
          </a:prstGeom>
          <a:noFill/>
          <a:ln>
            <a:noFill/>
          </a:ln>
        </p:spPr>
        <p:txBody>
          <a:bodyPr lIns="432050" tIns="216025" rIns="432050" bIns="216025" anchor="t" anchorCtr="0">
            <a:noAutofit/>
          </a:bodyPr>
          <a:lstStyle/>
          <a:p>
            <a:pPr lvl="0" algn="just"/>
            <a:r>
              <a:rPr lang="pt-BR" sz="5400" dirty="0">
                <a:solidFill>
                  <a:schemeClr val="dk1"/>
                </a:solidFill>
              </a:rPr>
              <a:t>A introdução deve ser concisa, apresentando o contexto do trabalho, as motivações e a sua importância para a sociedade, para a área de estudo ou para o público-alvo.</a:t>
            </a:r>
            <a:endParaRPr lang="pt-BR" sz="5400" b="1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lang="en-US" sz="5400" dirty="0">
              <a:solidFill>
                <a:schemeClr val="dk1"/>
              </a:solidFill>
            </a:endParaRPr>
          </a:p>
        </p:txBody>
      </p:sp>
      <p:sp>
        <p:nvSpPr>
          <p:cNvPr id="18" name="Shape 105"/>
          <p:cNvSpPr txBox="1"/>
          <p:nvPr/>
        </p:nvSpPr>
        <p:spPr>
          <a:xfrm>
            <a:off x="16708688" y="26106437"/>
            <a:ext cx="14117700" cy="2393950"/>
          </a:xfrm>
          <a:prstGeom prst="rect">
            <a:avLst/>
          </a:prstGeom>
          <a:noFill/>
          <a:ln>
            <a:noFill/>
          </a:ln>
        </p:spPr>
        <p:txBody>
          <a:bodyPr lIns="431800" tIns="215875" rIns="431800" bIns="2158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06"/>
          <p:cNvSpPr/>
          <p:nvPr/>
        </p:nvSpPr>
        <p:spPr>
          <a:xfrm>
            <a:off x="918942" y="21685273"/>
            <a:ext cx="14908224" cy="1571763"/>
          </a:xfrm>
          <a:prstGeom prst="rect">
            <a:avLst/>
          </a:prstGeom>
          <a:solidFill>
            <a:srgbClr val="204537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6000" b="1" dirty="0">
                <a:solidFill>
                  <a:schemeClr val="bg1"/>
                </a:solidFill>
                <a:latin typeface="Arial"/>
                <a:cs typeface="Arial"/>
              </a:rPr>
              <a:t> DESENVOLVIMENTO</a:t>
            </a:r>
          </a:p>
        </p:txBody>
      </p:sp>
      <p:sp>
        <p:nvSpPr>
          <p:cNvPr id="20" name="Shape 110"/>
          <p:cNvSpPr/>
          <p:nvPr/>
        </p:nvSpPr>
        <p:spPr>
          <a:xfrm>
            <a:off x="16781932" y="37202509"/>
            <a:ext cx="14760104" cy="1576386"/>
          </a:xfrm>
          <a:prstGeom prst="rect">
            <a:avLst/>
          </a:prstGeom>
          <a:solidFill>
            <a:srgbClr val="204537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6000" b="1">
                <a:solidFill>
                  <a:schemeClr val="bg1"/>
                </a:solidFill>
                <a:latin typeface="Arial"/>
                <a:cs typeface="Arial"/>
              </a:rPr>
              <a:t>REFERÊNCIAS</a:t>
            </a:r>
            <a:endParaRPr lang="en-US" sz="60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2" name="Shape 116"/>
          <p:cNvSpPr txBox="1"/>
          <p:nvPr/>
        </p:nvSpPr>
        <p:spPr>
          <a:xfrm>
            <a:off x="16781933" y="27890127"/>
            <a:ext cx="14740244" cy="3356140"/>
          </a:xfrm>
          <a:prstGeom prst="rect">
            <a:avLst/>
          </a:prstGeom>
          <a:noFill/>
          <a:ln>
            <a:noFill/>
          </a:ln>
        </p:spPr>
        <p:txBody>
          <a:bodyPr lIns="431800" tIns="215875" rIns="431800" bIns="215875" anchor="t" anchorCtr="0">
            <a:noAutofit/>
          </a:bodyPr>
          <a:lstStyle/>
          <a:p>
            <a:pPr lvl="0" algn="just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Tabelas e gráficos devem seguir os mesmos critérios das figuras, centralizados na página com legendas seguindo a numeração em ordem crescente. </a:t>
            </a:r>
            <a:r>
              <a:rPr lang="pt-BR" sz="5400" b="1" dirty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27" name="Shape 107">
            <a:extLst>
              <a:ext uri="{FF2B5EF4-FFF2-40B4-BE49-F238E27FC236}">
                <a16:creationId xmlns:a16="http://schemas.microsoft.com/office/drawing/2014/main" id="{82FF78EE-B678-4E3F-B3C0-9445F85ECD52}"/>
              </a:ext>
            </a:extLst>
          </p:cNvPr>
          <p:cNvSpPr/>
          <p:nvPr/>
        </p:nvSpPr>
        <p:spPr>
          <a:xfrm>
            <a:off x="971128" y="15647736"/>
            <a:ext cx="14853546" cy="1393713"/>
          </a:xfrm>
          <a:prstGeom prst="rect">
            <a:avLst/>
          </a:prstGeom>
          <a:solidFill>
            <a:srgbClr val="204537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6000" b="1" dirty="0">
                <a:solidFill>
                  <a:schemeClr val="bg1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28" name="Shape 107"/>
          <p:cNvSpPr/>
          <p:nvPr/>
        </p:nvSpPr>
        <p:spPr>
          <a:xfrm>
            <a:off x="16646870" y="9884694"/>
            <a:ext cx="14875306" cy="1577975"/>
          </a:xfrm>
          <a:prstGeom prst="rect">
            <a:avLst/>
          </a:prstGeom>
          <a:solidFill>
            <a:srgbClr val="204537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6000" b="1" dirty="0">
                <a:solidFill>
                  <a:schemeClr val="bg1"/>
                </a:solidFill>
                <a:latin typeface="Arial"/>
                <a:cs typeface="Arial"/>
              </a:rPr>
              <a:t>RESULTADOS     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1059613" y="17595237"/>
            <a:ext cx="14705862" cy="4516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Apresentar o planejamento das atividades para desenvolver o projeto, como também a organização das tarefas e da equipe e os itens e insumos necessários para o desenvolvimento do trabalho.</a:t>
            </a:r>
            <a:r>
              <a:rPr lang="pt-BR" sz="5400" b="1" i="0" u="none" dirty="0">
                <a:solidFill>
                  <a:schemeClr val="dk1"/>
                </a:solidFill>
                <a:sym typeface="Arial"/>
              </a:rPr>
              <a:t> </a:t>
            </a:r>
          </a:p>
          <a:p>
            <a:endParaRPr lang="pt-BR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17079448" y="33550361"/>
            <a:ext cx="14249980" cy="4516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Descrever a correspondência entre os objetivos propostos e os resultados alcançados e, opcionalmente, propor novos estudos a serem desenvolvidos em trabalhos futuros.</a:t>
            </a:r>
            <a:r>
              <a:rPr lang="pt-BR" sz="5400" b="1" dirty="0">
                <a:solidFill>
                  <a:schemeClr val="dk1"/>
                </a:solidFill>
              </a:rPr>
              <a:t> </a:t>
            </a:r>
          </a:p>
          <a:p>
            <a:pPr algn="just"/>
            <a:endParaRPr lang="pt-BR" dirty="0"/>
          </a:p>
        </p:txBody>
      </p:sp>
      <p:sp>
        <p:nvSpPr>
          <p:cNvPr id="32" name="Shape 107"/>
          <p:cNvSpPr/>
          <p:nvPr/>
        </p:nvSpPr>
        <p:spPr>
          <a:xfrm>
            <a:off x="16781932" y="31786692"/>
            <a:ext cx="14760104" cy="1577975"/>
          </a:xfrm>
          <a:prstGeom prst="rect">
            <a:avLst/>
          </a:prstGeom>
          <a:solidFill>
            <a:srgbClr val="204537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6000" b="1" dirty="0">
                <a:solidFill>
                  <a:schemeClr val="bg1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8ACF787-2C7D-4715-AF63-763B0235D05C}"/>
              </a:ext>
            </a:extLst>
          </p:cNvPr>
          <p:cNvSpPr/>
          <p:nvPr/>
        </p:nvSpPr>
        <p:spPr>
          <a:xfrm>
            <a:off x="787641" y="5664217"/>
            <a:ext cx="29795671" cy="1755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APP GERADOR DA ORDEM 66</a:t>
            </a:r>
          </a:p>
        </p:txBody>
      </p:sp>
      <p:sp>
        <p:nvSpPr>
          <p:cNvPr id="38" name="Shape 91">
            <a:extLst>
              <a:ext uri="{FF2B5EF4-FFF2-40B4-BE49-F238E27FC236}">
                <a16:creationId xmlns:a16="http://schemas.microsoft.com/office/drawing/2014/main" id="{F7748281-DD7F-471C-9BA3-EFC020716568}"/>
              </a:ext>
            </a:extLst>
          </p:cNvPr>
          <p:cNvSpPr txBox="1"/>
          <p:nvPr/>
        </p:nvSpPr>
        <p:spPr>
          <a:xfrm>
            <a:off x="877112" y="7643689"/>
            <a:ext cx="29706200" cy="213792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ctr">
              <a:spcBef>
                <a:spcPts val="600"/>
              </a:spcBef>
              <a:buClr>
                <a:schemeClr val="dk1"/>
              </a:buClr>
              <a:buSzPct val="25000"/>
            </a:pPr>
            <a:r>
              <a:rPr lang="en-US" sz="3600" dirty="0" err="1">
                <a:solidFill>
                  <a:schemeClr val="dk1"/>
                </a:solidFill>
              </a:rPr>
              <a:t>Padmé</a:t>
            </a:r>
            <a:r>
              <a:rPr lang="en-US" sz="3600" dirty="0">
                <a:solidFill>
                  <a:schemeClr val="dk1"/>
                </a:solidFill>
              </a:rPr>
              <a:t> Amidala</a:t>
            </a:r>
            <a:r>
              <a:rPr lang="en-US" sz="3600" baseline="30000" dirty="0">
                <a:solidFill>
                  <a:schemeClr val="dk1"/>
                </a:solidFill>
              </a:rPr>
              <a:t>1</a:t>
            </a:r>
            <a:r>
              <a:rPr lang="en-US" sz="3600" dirty="0">
                <a:solidFill>
                  <a:schemeClr val="dk1"/>
                </a:solidFill>
              </a:rPr>
              <a:t>; Jar </a:t>
            </a:r>
            <a:r>
              <a:rPr lang="en-US" sz="3600" dirty="0" err="1">
                <a:solidFill>
                  <a:schemeClr val="dk1"/>
                </a:solidFill>
              </a:rPr>
              <a:t>Jar</a:t>
            </a:r>
            <a:r>
              <a:rPr lang="en-US" sz="3600" dirty="0">
                <a:solidFill>
                  <a:schemeClr val="dk1"/>
                </a:solidFill>
              </a:rPr>
              <a:t> Binks</a:t>
            </a:r>
            <a:r>
              <a:rPr lang="en-US" sz="3600" baseline="30000" dirty="0">
                <a:solidFill>
                  <a:schemeClr val="dk1"/>
                </a:solidFill>
              </a:rPr>
              <a:t>2</a:t>
            </a:r>
            <a:r>
              <a:rPr lang="en-US" sz="3600" dirty="0">
                <a:solidFill>
                  <a:schemeClr val="dk1"/>
                </a:solidFill>
              </a:rPr>
              <a:t>; Ezra Bridger</a:t>
            </a:r>
            <a:r>
              <a:rPr lang="en-US" sz="3600" baseline="30000" dirty="0">
                <a:solidFill>
                  <a:schemeClr val="dk1"/>
                </a:solidFill>
              </a:rPr>
              <a:t>3</a:t>
            </a:r>
            <a:r>
              <a:rPr lang="en-US" sz="3600" dirty="0">
                <a:solidFill>
                  <a:schemeClr val="dk1"/>
                </a:solidFill>
              </a:rPr>
              <a:t>; Han Solo</a:t>
            </a:r>
            <a:r>
              <a:rPr lang="en-US" sz="3600" baseline="30000" dirty="0">
                <a:solidFill>
                  <a:schemeClr val="dk1"/>
                </a:solidFill>
              </a:rPr>
              <a:t>4</a:t>
            </a:r>
            <a:r>
              <a:rPr lang="en-US" sz="3600" dirty="0">
                <a:solidFill>
                  <a:schemeClr val="dk1"/>
                </a:solidFill>
              </a:rPr>
              <a:t>; Chewbacca Wookiee</a:t>
            </a:r>
            <a:r>
              <a:rPr lang="en-US" sz="3600" baseline="30000" dirty="0">
                <a:solidFill>
                  <a:schemeClr val="dk1"/>
                </a:solidFill>
              </a:rPr>
              <a:t>5</a:t>
            </a:r>
            <a:r>
              <a:rPr lang="en-US" sz="3600" dirty="0">
                <a:solidFill>
                  <a:schemeClr val="dk1"/>
                </a:solidFill>
              </a:rPr>
              <a:t>; Din Djarin</a:t>
            </a:r>
            <a:r>
              <a:rPr lang="en-US" sz="3600" baseline="30000" dirty="0">
                <a:solidFill>
                  <a:schemeClr val="dk1"/>
                </a:solidFill>
              </a:rPr>
              <a:t>6</a:t>
            </a:r>
          </a:p>
          <a:p>
            <a:pPr lvl="0" algn="ctr">
              <a:spcBef>
                <a:spcPts val="600"/>
              </a:spcBef>
              <a:buClr>
                <a:schemeClr val="dk1"/>
              </a:buClr>
              <a:buSzPct val="25000"/>
            </a:pPr>
            <a:r>
              <a:rPr lang="en-US" sz="3600" baseline="30000" dirty="0">
                <a:solidFill>
                  <a:schemeClr val="dk1"/>
                </a:solidFill>
              </a:rPr>
              <a:t>1 </a:t>
            </a:r>
            <a:r>
              <a:rPr lang="en-US" sz="3600" dirty="0">
                <a:solidFill>
                  <a:schemeClr val="dk1"/>
                </a:solidFill>
              </a:rPr>
              <a:t>3-ADS-00123456; </a:t>
            </a:r>
            <a:r>
              <a:rPr lang="en-US" sz="3600" baseline="30000" dirty="0">
                <a:solidFill>
                  <a:schemeClr val="dk1"/>
                </a:solidFill>
              </a:rPr>
              <a:t>2 </a:t>
            </a:r>
            <a:r>
              <a:rPr lang="en-US" sz="3600" dirty="0">
                <a:solidFill>
                  <a:schemeClr val="dk1"/>
                </a:solidFill>
              </a:rPr>
              <a:t>3-CCOMP-007654321; </a:t>
            </a:r>
            <a:r>
              <a:rPr lang="en-US" sz="3600" baseline="30000" dirty="0">
                <a:solidFill>
                  <a:schemeClr val="dk1"/>
                </a:solidFill>
              </a:rPr>
              <a:t>3 </a:t>
            </a:r>
            <a:r>
              <a:rPr lang="en-US" sz="3600" dirty="0">
                <a:solidFill>
                  <a:schemeClr val="dk1"/>
                </a:solidFill>
              </a:rPr>
              <a:t>4-ENGCOMP-009876543; </a:t>
            </a:r>
            <a:r>
              <a:rPr lang="en-US" sz="3600" baseline="30000" dirty="0">
                <a:solidFill>
                  <a:schemeClr val="dk1"/>
                </a:solidFill>
              </a:rPr>
              <a:t>4 </a:t>
            </a:r>
            <a:r>
              <a:rPr lang="en-US" sz="3600" dirty="0">
                <a:solidFill>
                  <a:schemeClr val="dk1"/>
                </a:solidFill>
              </a:rPr>
              <a:t>3-CDADOS-00321123; </a:t>
            </a:r>
            <a:r>
              <a:rPr lang="en-US" sz="3600" baseline="30000" dirty="0">
                <a:solidFill>
                  <a:schemeClr val="dk1"/>
                </a:solidFill>
              </a:rPr>
              <a:t>5 </a:t>
            </a:r>
            <a:r>
              <a:rPr lang="en-US" sz="3600" dirty="0">
                <a:solidFill>
                  <a:schemeClr val="dk1"/>
                </a:solidFill>
              </a:rPr>
              <a:t>3-AGRO-00123321; </a:t>
            </a:r>
            <a:r>
              <a:rPr lang="en-US" sz="3600" baseline="30000" dirty="0">
                <a:solidFill>
                  <a:schemeClr val="dk1"/>
                </a:solidFill>
              </a:rPr>
              <a:t>6 </a:t>
            </a:r>
            <a:r>
              <a:rPr lang="en-US" sz="3600" dirty="0">
                <a:solidFill>
                  <a:schemeClr val="dk1"/>
                </a:solidFill>
              </a:rPr>
              <a:t>3-DGAMES-00321123</a:t>
            </a:r>
            <a:endParaRPr lang="en-US" sz="3600" baseline="30000" dirty="0">
              <a:solidFill>
                <a:schemeClr val="dk1"/>
              </a:solidFill>
            </a:endParaRPr>
          </a:p>
        </p:txBody>
      </p:sp>
      <p:sp>
        <p:nvSpPr>
          <p:cNvPr id="39" name="Shape 104">
            <a:extLst>
              <a:ext uri="{FF2B5EF4-FFF2-40B4-BE49-F238E27FC236}">
                <a16:creationId xmlns:a16="http://schemas.microsoft.com/office/drawing/2014/main" id="{F88F6211-5249-45D9-8F42-B637E837E720}"/>
              </a:ext>
            </a:extLst>
          </p:cNvPr>
          <p:cNvSpPr txBox="1"/>
          <p:nvPr/>
        </p:nvSpPr>
        <p:spPr>
          <a:xfrm>
            <a:off x="877112" y="23875666"/>
            <a:ext cx="14400000" cy="7208837"/>
          </a:xfrm>
          <a:prstGeom prst="rect">
            <a:avLst/>
          </a:prstGeom>
          <a:noFill/>
          <a:ln>
            <a:noFill/>
          </a:ln>
        </p:spPr>
        <p:txBody>
          <a:bodyPr lIns="431800" tIns="215875" rIns="431800" bIns="215875" anchor="t" anchorCtr="0">
            <a:noAutofit/>
          </a:bodyPr>
          <a:lstStyle/>
          <a:p>
            <a:pPr lvl="0" algn="just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Distribuir as figuras, tabelas, imagens, diagramas, desenhos e quadros juntos aos textos, apresentando-os como em um infográfico.</a:t>
            </a:r>
          </a:p>
          <a:p>
            <a:pPr lvl="0" algn="ctr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Figura 1. Diagramas do SGBDR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5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56C00B6F-C398-40ED-A896-4FB7B3D2F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533" y="28670661"/>
            <a:ext cx="6481042" cy="6481042"/>
          </a:xfrm>
          <a:prstGeom prst="rect">
            <a:avLst/>
          </a:prstGeom>
        </p:spPr>
      </p:pic>
      <p:sp>
        <p:nvSpPr>
          <p:cNvPr id="41" name="Shape 116">
            <a:extLst>
              <a:ext uri="{FF2B5EF4-FFF2-40B4-BE49-F238E27FC236}">
                <a16:creationId xmlns:a16="http://schemas.microsoft.com/office/drawing/2014/main" id="{5EF52E9E-E72A-46DE-BA5D-EC45EA4EB127}"/>
              </a:ext>
            </a:extLst>
          </p:cNvPr>
          <p:cNvSpPr txBox="1"/>
          <p:nvPr/>
        </p:nvSpPr>
        <p:spPr>
          <a:xfrm>
            <a:off x="802999" y="36998046"/>
            <a:ext cx="14400000" cy="4514581"/>
          </a:xfrm>
          <a:prstGeom prst="rect">
            <a:avLst/>
          </a:prstGeom>
          <a:noFill/>
          <a:ln>
            <a:noFill/>
          </a:ln>
        </p:spPr>
        <p:txBody>
          <a:bodyPr lIns="431800" tIns="215875" rIns="431800" bIns="215875" anchor="t" anchorCtr="0">
            <a:noAutofit/>
          </a:bodyPr>
          <a:lstStyle/>
          <a:p>
            <a:pPr lvl="0" algn="just">
              <a:buClr>
                <a:schemeClr val="dk1"/>
              </a:buClr>
              <a:buSzPct val="25000"/>
            </a:pPr>
            <a:r>
              <a:rPr lang="pt-BR" sz="5400" dirty="0">
                <a:solidFill>
                  <a:schemeClr val="dk1"/>
                </a:solidFill>
              </a:rPr>
              <a:t>As figuras, tabelas, imagens, diagramas, desenhos e quadros devem ser numerados e possuir legendas explicativas. Pode colocar o máximo de texto para ajudar na apresentação de forma direta.</a:t>
            </a:r>
            <a:endParaRPr lang="pt-BR" sz="5400" b="1" dirty="0">
              <a:solidFill>
                <a:schemeClr val="dk1"/>
              </a:solidFill>
            </a:endParaRPr>
          </a:p>
        </p:txBody>
      </p:sp>
      <p:pic>
        <p:nvPicPr>
          <p:cNvPr id="42" name="Picture 2" descr="I made free Star Wars Datapad App Icons for all fans : r/StarWars">
            <a:extLst>
              <a:ext uri="{FF2B5EF4-FFF2-40B4-BE49-F238E27FC236}">
                <a16:creationId xmlns:a16="http://schemas.microsoft.com/office/drawing/2014/main" id="{CB10CFEF-F12A-4E8A-A476-550335016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984" y="14777362"/>
            <a:ext cx="6096000" cy="131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Shape 111">
            <a:extLst>
              <a:ext uri="{FF2B5EF4-FFF2-40B4-BE49-F238E27FC236}">
                <a16:creationId xmlns:a16="http://schemas.microsoft.com/office/drawing/2014/main" id="{4CC3A6D8-14F6-432B-94BB-F585ED31AD78}"/>
              </a:ext>
            </a:extLst>
          </p:cNvPr>
          <p:cNvSpPr txBox="1"/>
          <p:nvPr/>
        </p:nvSpPr>
        <p:spPr>
          <a:xfrm>
            <a:off x="17079447" y="38881978"/>
            <a:ext cx="14400000" cy="2240601"/>
          </a:xfrm>
          <a:prstGeom prst="rect">
            <a:avLst/>
          </a:prstGeom>
          <a:noFill/>
          <a:ln>
            <a:noFill/>
          </a:ln>
        </p:spPr>
        <p:txBody>
          <a:bodyPr lIns="431800" tIns="215875" rIns="431800" bIns="215875" anchor="t" anchorCtr="0">
            <a:noAutofit/>
          </a:bodyPr>
          <a:lstStyle/>
          <a:p>
            <a:pPr>
              <a:buClr>
                <a:schemeClr val="dk1"/>
              </a:buClr>
              <a:buSzPct val="100000"/>
            </a:pPr>
            <a:r>
              <a:rPr lang="en-US" sz="3200" b="0" i="0" u="none" dirty="0">
                <a:solidFill>
                  <a:schemeClr val="dk1"/>
                </a:solidFill>
                <a:sym typeface="Arial"/>
              </a:rPr>
              <a:t>FAN CREATIONS, I made free Star Wars </a:t>
            </a:r>
            <a:r>
              <a:rPr lang="en-US" sz="3200" b="0" i="0" u="none" dirty="0" err="1">
                <a:solidFill>
                  <a:schemeClr val="dk1"/>
                </a:solidFill>
                <a:sym typeface="Arial"/>
              </a:rPr>
              <a:t>Datapad</a:t>
            </a:r>
            <a:r>
              <a:rPr lang="en-US" sz="3200" b="0" i="0" u="none" dirty="0">
                <a:solidFill>
                  <a:schemeClr val="dk1"/>
                </a:solidFill>
                <a:sym typeface="Arial"/>
              </a:rPr>
              <a:t> App Icons for all fans, REDDIT 2021, </a:t>
            </a:r>
            <a:r>
              <a:rPr lang="en-US" sz="3200" b="0" i="0" u="none" dirty="0" err="1">
                <a:solidFill>
                  <a:schemeClr val="dk1"/>
                </a:solidFill>
                <a:sym typeface="Arial"/>
              </a:rPr>
              <a:t>Disponível</a:t>
            </a:r>
            <a:r>
              <a:rPr lang="en-US" sz="3200" b="0" i="0" u="none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sym typeface="Arial"/>
              </a:rPr>
              <a:t>em</a:t>
            </a:r>
            <a:r>
              <a:rPr lang="en-US" sz="3200" b="0" i="0" u="none" dirty="0">
                <a:solidFill>
                  <a:schemeClr val="dk1"/>
                </a:solidFill>
                <a:sym typeface="Arial"/>
              </a:rPr>
              <a:t>:  https://www.reddit.com/r/StarWars/comments/pzj3pu/i_made_free_star_wars_datapad_app_icons_for_all/?rdt=43759</a:t>
            </a:r>
            <a:endParaRPr lang="en-US" sz="3200" dirty="0">
              <a:solidFill>
                <a:schemeClr val="dk1"/>
              </a:solidFill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0EAD15A7-D350-40DA-B2DF-0180286DE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623" y="3159454"/>
            <a:ext cx="4931953" cy="129275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2DCE5C3-5A26-614D-004B-C29CC1A1F6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899"/>
            <a:ext cx="32399288" cy="5278553"/>
          </a:xfrm>
          <a:prstGeom prst="rect">
            <a:avLst/>
          </a:prstGeom>
        </p:spPr>
      </p:pic>
      <p:sp>
        <p:nvSpPr>
          <p:cNvPr id="4" name="Shape 120">
            <a:extLst>
              <a:ext uri="{FF2B5EF4-FFF2-40B4-BE49-F238E27FC236}">
                <a16:creationId xmlns:a16="http://schemas.microsoft.com/office/drawing/2014/main" id="{0209B2E5-54FE-3968-759E-EA03D63D6962}"/>
              </a:ext>
            </a:extLst>
          </p:cNvPr>
          <p:cNvSpPr/>
          <p:nvPr/>
        </p:nvSpPr>
        <p:spPr>
          <a:xfrm>
            <a:off x="970262" y="9895911"/>
            <a:ext cx="14853547" cy="1577975"/>
          </a:xfrm>
          <a:prstGeom prst="rect">
            <a:avLst/>
          </a:prstGeom>
          <a:solidFill>
            <a:srgbClr val="204537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60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1990594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8351</TotalTime>
  <Words>303</Words>
  <Application>Microsoft Office PowerPoint</Application>
  <PresentationFormat>Personalizar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052066 - ANA LUCIA SANCHEZ DE LIMA VENTURA</dc:creator>
  <cp:lastModifiedBy>Marcos Paulo .</cp:lastModifiedBy>
  <cp:revision>20</cp:revision>
  <dcterms:created xsi:type="dcterms:W3CDTF">2024-07-02T19:49:14Z</dcterms:created>
  <dcterms:modified xsi:type="dcterms:W3CDTF">2026-02-10T13:26:54Z</dcterms:modified>
</cp:coreProperties>
</file>